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731520" y="6446520"/>
            <a:ext cx="2743200" cy="274320"/>
          </a:xfrm>
          <a:prstGeom prst="rect">
            <a:avLst/>
          </a:prstGeom>
          <a:noFill/>
          <a:ln/>
        </p:spPr>
        <p:txBody>
          <a:bodyPr wrap="square" rtlCol="0" anchor="ctr"/>
          <a:lstStyle/>
          <a:p>
            <a:pPr indent="0" marL="0">
              <a:buNone/>
            </a:pPr>
            <a:r>
              <a:rPr lang="en-US" sz="800" dirty="0">
                <a:solidFill>
                  <a:srgbClr val="C4A94D"/>
                </a:solidFill>
                <a:latin typeface="Inter" pitchFamily="34" charset="0"/>
                <a:ea typeface="Inter" pitchFamily="34" charset="-122"/>
                <a:cs typeface="Inter" pitchFamily="34" charset="-120"/>
              </a:rPr>
              <a:t>montessoriforadolescents.com</a:t>
            </a:r>
            <a:endParaRPr lang="en-US" sz="800" dirty="0"/>
          </a:p>
        </p:txBody>
      </p:sp>
      <p:pic>
        <p:nvPicPr>
          <p:cNvPr id="3" name="Image 0" descr="preencoded.png">    </p:cNvPr>
          <p:cNvPicPr>
            <a:picLocks noChangeAspect="1"/>
          </p:cNvPicPr>
          <p:nvPr/>
        </p:nvPicPr>
        <p:blipFill>
          <a:blip r:embed="rId1"/>
          <a:stretch>
            <a:fillRect/>
          </a:stretch>
        </p:blipFill>
        <p:spPr>
          <a:xfrm>
            <a:off x="5184648" y="731520"/>
            <a:ext cx="1828800" cy="1828800"/>
          </a:xfrm>
          <a:prstGeom prst="rect">
            <a:avLst/>
          </a:prstGeom>
        </p:spPr>
      </p:pic>
      <p:sp>
        <p:nvSpPr>
          <p:cNvPr id="4" name="Text 1"/>
          <p:cNvSpPr/>
          <p:nvPr/>
        </p:nvSpPr>
        <p:spPr>
          <a:xfrm>
            <a:off x="1371600" y="2743200"/>
            <a:ext cx="9445752" cy="1097280"/>
          </a:xfrm>
          <a:prstGeom prst="rect">
            <a:avLst/>
          </a:prstGeom>
          <a:noFill/>
          <a:ln/>
        </p:spPr>
        <p:txBody>
          <a:bodyPr wrap="square" rtlCol="0" anchor="ctr"/>
          <a:lstStyle/>
          <a:p>
            <a:pPr algn="ctr" indent="0" marL="0">
              <a:lnSpc>
                <a:spcPct val="120000"/>
              </a:lnSpc>
              <a:buNone/>
            </a:pPr>
            <a:r>
              <a:rPr lang="en-US" sz="3600" dirty="0">
                <a:solidFill>
                  <a:srgbClr val="3F265B"/>
                </a:solidFill>
                <a:latin typeface="Lora" pitchFamily="34" charset="0"/>
                <a:ea typeface="Lora" pitchFamily="34" charset="-122"/>
                <a:cs typeface="Lora" pitchFamily="34" charset="-120"/>
              </a:rPr>
              <a:t>Montessori for</a:t>
            </a:r>
            <a:endParaRPr lang="en-US" sz="3600" dirty="0"/>
          </a:p>
          <a:p>
            <a:pPr algn="ctr" indent="0" marL="0">
              <a:lnSpc>
                <a:spcPct val="120000"/>
              </a:lnSpc>
              <a:buNone/>
            </a:pPr>
            <a:r>
              <a:rPr lang="en-US" sz="3600" dirty="0">
                <a:solidFill>
                  <a:srgbClr val="3F265B"/>
                </a:solidFill>
                <a:latin typeface="Lora" pitchFamily="34" charset="0"/>
                <a:ea typeface="Lora" pitchFamily="34" charset="-122"/>
                <a:cs typeface="Lora" pitchFamily="34" charset="-120"/>
              </a:rPr>
              <a:t>Adolescents 101</a:t>
            </a:r>
            <a:endParaRPr lang="en-US" sz="3600" dirty="0"/>
          </a:p>
        </p:txBody>
      </p:sp>
      <p:sp>
        <p:nvSpPr>
          <p:cNvPr id="5" name="Text 2"/>
          <p:cNvSpPr/>
          <p:nvPr/>
        </p:nvSpPr>
        <p:spPr>
          <a:xfrm>
            <a:off x="2286000" y="3931920"/>
            <a:ext cx="7616952" cy="640080"/>
          </a:xfrm>
          <a:prstGeom prst="rect">
            <a:avLst/>
          </a:prstGeom>
          <a:noFill/>
          <a:ln/>
        </p:spPr>
        <p:txBody>
          <a:bodyPr wrap="square" rtlCol="0" anchor="ctr"/>
          <a:lstStyle/>
          <a:p>
            <a:pPr algn="ctr" indent="0" marL="0">
              <a:lnSpc>
                <a:spcPct val="130000"/>
              </a:lnSpc>
              <a:buNone/>
            </a:pPr>
            <a:r>
              <a:rPr lang="en-US" sz="1600" dirty="0">
                <a:solidFill>
                  <a:srgbClr val="5C4A3A"/>
                </a:solidFill>
                <a:latin typeface="Inter" pitchFamily="34" charset="0"/>
                <a:ea typeface="Inter" pitchFamily="34" charset="-122"/>
                <a:cs typeface="Inter" pitchFamily="34" charset="-120"/>
              </a:rPr>
              <a:t>Overview of the characteristics, needs,</a:t>
            </a:r>
            <a:endParaRPr lang="en-US" sz="1600" dirty="0"/>
          </a:p>
          <a:p>
            <a:pPr algn="ctr" indent="0" marL="0">
              <a:lnSpc>
                <a:spcPct val="130000"/>
              </a:lnSpc>
              <a:buNone/>
            </a:pPr>
            <a:r>
              <a:rPr lang="en-US" sz="1600" dirty="0">
                <a:solidFill>
                  <a:srgbClr val="5C4A3A"/>
                </a:solidFill>
                <a:latin typeface="Inter" pitchFamily="34" charset="0"/>
                <a:ea typeface="Inter" pitchFamily="34" charset="-122"/>
                <a:cs typeface="Inter" pitchFamily="34" charset="-120"/>
              </a:rPr>
              <a:t>and prepared environment.</a:t>
            </a:r>
            <a:endParaRPr lang="en-US" sz="1600" dirty="0"/>
          </a:p>
        </p:txBody>
      </p:sp>
      <p:sp>
        <p:nvSpPr>
          <p:cNvPr id="6" name="Shape 3"/>
          <p:cNvSpPr/>
          <p:nvPr/>
        </p:nvSpPr>
        <p:spPr>
          <a:xfrm>
            <a:off x="731520" y="4709160"/>
            <a:ext cx="10725912" cy="0"/>
          </a:xfrm>
          <a:prstGeom prst="line">
            <a:avLst/>
          </a:prstGeom>
          <a:noFill/>
          <a:ln w="19050">
            <a:solidFill>
              <a:srgbClr val="C4A94D"/>
            </a:solidFill>
            <a:prstDash val="solid"/>
          </a:ln>
        </p:spPr>
      </p:sp>
      <p:sp>
        <p:nvSpPr>
          <p:cNvPr id="7" name="Shape 4"/>
          <p:cNvSpPr/>
          <p:nvPr/>
        </p:nvSpPr>
        <p:spPr>
          <a:xfrm>
            <a:off x="731520" y="4937760"/>
            <a:ext cx="54864" cy="1097280"/>
          </a:xfrm>
          <a:prstGeom prst="rect">
            <a:avLst/>
          </a:prstGeom>
          <a:solidFill>
            <a:srgbClr val="C4A94D"/>
          </a:solidFill>
          <a:ln/>
        </p:spPr>
      </p:sp>
      <p:sp>
        <p:nvSpPr>
          <p:cNvPr id="8" name="Shape 5"/>
          <p:cNvSpPr/>
          <p:nvPr/>
        </p:nvSpPr>
        <p:spPr>
          <a:xfrm>
            <a:off x="786384" y="4937760"/>
            <a:ext cx="10671048" cy="1097280"/>
          </a:xfrm>
          <a:prstGeom prst="rect">
            <a:avLst/>
          </a:prstGeom>
          <a:solidFill>
            <a:srgbClr val="F3EBFC"/>
          </a:solidFill>
          <a:ln/>
        </p:spPr>
      </p:sp>
      <p:sp>
        <p:nvSpPr>
          <p:cNvPr id="9" name="Text 6"/>
          <p:cNvSpPr/>
          <p:nvPr/>
        </p:nvSpPr>
        <p:spPr>
          <a:xfrm>
            <a:off x="1005840" y="5029200"/>
            <a:ext cx="10177272" cy="685800"/>
          </a:xfrm>
          <a:prstGeom prst="rect">
            <a:avLst/>
          </a:prstGeom>
          <a:noFill/>
          <a:ln/>
        </p:spPr>
        <p:txBody>
          <a:bodyPr wrap="square" rtlCol="0" anchor="ctr"/>
          <a:lstStyle/>
          <a:p>
            <a:pPr algn="ctr" indent="0" marL="0">
              <a:buNone/>
            </a:pPr>
            <a:r>
              <a:rPr lang="en-US" sz="1200" i="1" dirty="0">
                <a:solidFill>
                  <a:srgbClr val="3F265B"/>
                </a:solidFill>
                <a:latin typeface="Lora" pitchFamily="34" charset="0"/>
                <a:ea typeface="Lora" pitchFamily="34" charset="-122"/>
                <a:cs typeface="Lora" pitchFamily="34" charset="-120"/>
              </a:rPr>
              <a:t>"The passage to the third period is also a passage to a development which is not natural, but social. … The human personality should be prepared for the unforeseen—not only for the immediate environment, but for the whole of the social world."</a:t>
            </a:r>
            <a:endParaRPr lang="en-US" sz="1200" dirty="0"/>
          </a:p>
        </p:txBody>
      </p:sp>
      <p:sp>
        <p:nvSpPr>
          <p:cNvPr id="10" name="Text 7"/>
          <p:cNvSpPr/>
          <p:nvPr/>
        </p:nvSpPr>
        <p:spPr>
          <a:xfrm>
            <a:off x="1005840" y="5715000"/>
            <a:ext cx="10177272" cy="228600"/>
          </a:xfrm>
          <a:prstGeom prst="rect">
            <a:avLst/>
          </a:prstGeom>
          <a:noFill/>
          <a:ln/>
        </p:spPr>
        <p:txBody>
          <a:bodyPr wrap="square" rtlCol="0" anchor="ctr"/>
          <a:lstStyle/>
          <a:p>
            <a:pPr algn="ctr" indent="0" marL="0">
              <a:buNone/>
            </a:pPr>
            <a:r>
              <a:rPr lang="en-US" sz="1000" dirty="0">
                <a:solidFill>
                  <a:srgbClr val="C4A94D"/>
                </a:solidFill>
                <a:latin typeface="Inter" pitchFamily="34" charset="0"/>
                <a:ea typeface="Inter" pitchFamily="34" charset="-122"/>
                <a:cs typeface="Inter" pitchFamily="34" charset="-120"/>
              </a:rPr>
              <a:t>— Maria Montessori, From Childhood to Adolescence</a:t>
            </a:r>
            <a:endParaRPr lang="en-US" sz="1000" dirty="0"/>
          </a:p>
        </p:txBody>
      </p:sp>
      <p:sp>
        <p:nvSpPr>
          <p:cNvPr id="11" name="Text 8"/>
          <p:cNvSpPr/>
          <p:nvPr/>
        </p:nvSpPr>
        <p:spPr>
          <a:xfrm>
            <a:off x="3200400" y="6217920"/>
            <a:ext cx="5788152" cy="365760"/>
          </a:xfrm>
          <a:prstGeom prst="rect">
            <a:avLst/>
          </a:prstGeom>
          <a:noFill/>
          <a:ln/>
        </p:spPr>
        <p:txBody>
          <a:bodyPr wrap="square" rtlCol="0" anchor="ctr"/>
          <a:lstStyle/>
          <a:p>
            <a:pPr algn="ctr" indent="0" marL="0">
              <a:buNone/>
            </a:pPr>
            <a:r>
              <a:rPr lang="en-US" sz="1400" dirty="0">
                <a:solidFill>
                  <a:srgbClr val="C4A94D"/>
                </a:solidFill>
                <a:latin typeface="Inter" pitchFamily="34" charset="0"/>
                <a:ea typeface="Inter" pitchFamily="34" charset="-122"/>
                <a:cs typeface="Inter" pitchFamily="34" charset="-120"/>
              </a:rPr>
              <a:t>montessoriforadolescents.com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731520" y="6446520"/>
            <a:ext cx="2743200" cy="274320"/>
          </a:xfrm>
          <a:prstGeom prst="rect">
            <a:avLst/>
          </a:prstGeom>
          <a:noFill/>
          <a:ln/>
        </p:spPr>
        <p:txBody>
          <a:bodyPr wrap="square" rtlCol="0" anchor="ctr"/>
          <a:lstStyle/>
          <a:p>
            <a:pPr indent="0" marL="0">
              <a:buNone/>
            </a:pPr>
            <a:r>
              <a:rPr lang="en-US" sz="800" dirty="0">
                <a:solidFill>
                  <a:srgbClr val="C4A94D"/>
                </a:solidFill>
                <a:latin typeface="Inter" pitchFamily="34" charset="0"/>
                <a:ea typeface="Inter" pitchFamily="34" charset="-122"/>
                <a:cs typeface="Inter" pitchFamily="34" charset="-120"/>
              </a:rPr>
              <a:t>montessoriforadolescents.com</a:t>
            </a:r>
            <a:endParaRPr lang="en-US" sz="800" dirty="0"/>
          </a:p>
        </p:txBody>
      </p:sp>
      <p:sp>
        <p:nvSpPr>
          <p:cNvPr id="3" name="Text 1"/>
          <p:cNvSpPr/>
          <p:nvPr/>
        </p:nvSpPr>
        <p:spPr>
          <a:xfrm>
            <a:off x="731520" y="365760"/>
            <a:ext cx="10725912" cy="502920"/>
          </a:xfrm>
          <a:prstGeom prst="rect">
            <a:avLst/>
          </a:prstGeom>
          <a:noFill/>
          <a:ln/>
        </p:spPr>
        <p:txBody>
          <a:bodyPr wrap="square" rtlCol="0" anchor="ctr"/>
          <a:lstStyle/>
          <a:p>
            <a:pPr indent="0" marL="0">
              <a:buNone/>
            </a:pPr>
            <a:r>
              <a:rPr lang="en-US" sz="2400" b="1" dirty="0">
                <a:solidFill>
                  <a:srgbClr val="3F265B"/>
                </a:solidFill>
                <a:latin typeface="Lora" pitchFamily="34" charset="0"/>
                <a:ea typeface="Lora" pitchFamily="34" charset="-122"/>
                <a:cs typeface="Lora" pitchFamily="34" charset="-120"/>
              </a:rPr>
              <a:t>The Four Planes of Development</a:t>
            </a:r>
            <a:endParaRPr lang="en-US" sz="2400" dirty="0"/>
          </a:p>
        </p:txBody>
      </p:sp>
      <p:sp>
        <p:nvSpPr>
          <p:cNvPr id="4" name="Shape 2"/>
          <p:cNvSpPr/>
          <p:nvPr/>
        </p:nvSpPr>
        <p:spPr>
          <a:xfrm>
            <a:off x="731520" y="822960"/>
            <a:ext cx="10725912" cy="0"/>
          </a:xfrm>
          <a:prstGeom prst="line">
            <a:avLst/>
          </a:prstGeom>
          <a:noFill/>
          <a:ln w="19050">
            <a:solidFill>
              <a:srgbClr val="C4A94D"/>
            </a:solidFill>
            <a:prstDash val="solid"/>
          </a:ln>
        </p:spPr>
      </p:sp>
      <p:sp>
        <p:nvSpPr>
          <p:cNvPr id="5" name="Text 3"/>
          <p:cNvSpPr/>
          <p:nvPr/>
        </p:nvSpPr>
        <p:spPr>
          <a:xfrm>
            <a:off x="731520" y="960120"/>
            <a:ext cx="10725912" cy="502920"/>
          </a:xfrm>
          <a:prstGeom prst="rect">
            <a:avLst/>
          </a:prstGeom>
          <a:noFill/>
          <a:ln/>
        </p:spPr>
        <p:txBody>
          <a:bodyPr wrap="square" rtlCol="0" anchor="t"/>
          <a:lstStyle/>
          <a:p>
            <a:pPr indent="0" marL="0">
              <a:lnSpc>
                <a:spcPct val="130000"/>
              </a:lnSpc>
              <a:buNone/>
            </a:pPr>
            <a:r>
              <a:rPr lang="en-US" sz="1100" dirty="0">
                <a:solidFill>
                  <a:srgbClr val="5C4A3A"/>
                </a:solidFill>
                <a:latin typeface="Inter" pitchFamily="34" charset="0"/>
                <a:ea typeface="Inter" pitchFamily="34" charset="-122"/>
                <a:cs typeface="Inter" pitchFamily="34" charset="-120"/>
              </a:rPr>
              <a:t>Maria Montessori observed that human development from birth to maturity (age 24) unfolds across four distinct planes, each lasting approximately six years. Each plane has its own unique characteristics, sensitivities, and developmental needs.</a:t>
            </a:r>
            <a:endParaRPr lang="en-US" sz="1100" dirty="0"/>
          </a:p>
        </p:txBody>
      </p:sp>
      <p:sp>
        <p:nvSpPr>
          <p:cNvPr id="6" name="Shape 4"/>
          <p:cNvSpPr/>
          <p:nvPr/>
        </p:nvSpPr>
        <p:spPr>
          <a:xfrm>
            <a:off x="731520" y="1508760"/>
            <a:ext cx="5317236" cy="731520"/>
          </a:xfrm>
          <a:prstGeom prst="rect">
            <a:avLst>
              <a:gd name="adj" fmla="val 6250"/>
            </a:avLst>
          </a:prstGeom>
          <a:solidFill>
            <a:srgbClr val="F3EBFC"/>
          </a:solidFill>
          <a:ln/>
        </p:spPr>
      </p:sp>
      <p:sp>
        <p:nvSpPr>
          <p:cNvPr id="7" name="Text 5"/>
          <p:cNvSpPr/>
          <p:nvPr/>
        </p:nvSpPr>
        <p:spPr>
          <a:xfrm>
            <a:off x="868680" y="1581912"/>
            <a:ext cx="5042916" cy="274320"/>
          </a:xfrm>
          <a:prstGeom prst="rect">
            <a:avLst/>
          </a:prstGeom>
          <a:noFill/>
          <a:ln/>
        </p:spPr>
        <p:txBody>
          <a:bodyPr wrap="square" rtlCol="0" anchor="t"/>
          <a:lstStyle/>
          <a:p>
            <a:pPr indent="0" marL="0">
              <a:buNone/>
            </a:pPr>
            <a:r>
              <a:rPr lang="en-US" sz="1300" b="1" dirty="0">
                <a:solidFill>
                  <a:srgbClr val="3F265B"/>
                </a:solidFill>
                <a:latin typeface="Lora" pitchFamily="34" charset="0"/>
                <a:ea typeface="Lora" pitchFamily="34" charset="-122"/>
                <a:cs typeface="Lora" pitchFamily="34" charset="-120"/>
              </a:rPr>
              <a:t>First Plane (0–6)</a:t>
            </a:r>
            <a:endParaRPr lang="en-US" sz="1300" dirty="0"/>
          </a:p>
        </p:txBody>
      </p:sp>
      <p:sp>
        <p:nvSpPr>
          <p:cNvPr id="8" name="Text 6"/>
          <p:cNvSpPr/>
          <p:nvPr/>
        </p:nvSpPr>
        <p:spPr>
          <a:xfrm>
            <a:off x="868680" y="1828800"/>
            <a:ext cx="5042916" cy="320040"/>
          </a:xfrm>
          <a:prstGeom prst="rect">
            <a:avLst/>
          </a:prstGeom>
          <a:noFill/>
          <a:ln/>
        </p:spPr>
        <p:txBody>
          <a:bodyPr wrap="square" rtlCol="0" anchor="t"/>
          <a:lstStyle/>
          <a:p>
            <a:pPr indent="0" marL="0">
              <a:lnSpc>
                <a:spcPct val="130000"/>
              </a:lnSpc>
              <a:buNone/>
            </a:pPr>
            <a:r>
              <a:rPr lang="en-US" sz="1000" dirty="0">
                <a:solidFill>
                  <a:srgbClr val="5C4A3A"/>
                </a:solidFill>
                <a:latin typeface="Inter" pitchFamily="34" charset="0"/>
                <a:ea typeface="Inter" pitchFamily="34" charset="-122"/>
                <a:cs typeface="Inter" pitchFamily="34" charset="-120"/>
              </a:rPr>
              <a:t>The absorbent mind. Sensorial exploration. Creation of the individual self. Dramatic physical growth.</a:t>
            </a:r>
            <a:endParaRPr lang="en-US" sz="1000" dirty="0"/>
          </a:p>
        </p:txBody>
      </p:sp>
      <p:sp>
        <p:nvSpPr>
          <p:cNvPr id="9" name="Shape 7"/>
          <p:cNvSpPr/>
          <p:nvPr/>
        </p:nvSpPr>
        <p:spPr>
          <a:xfrm>
            <a:off x="6140196" y="1508760"/>
            <a:ext cx="5317236" cy="731520"/>
          </a:xfrm>
          <a:prstGeom prst="rect">
            <a:avLst>
              <a:gd name="adj" fmla="val 6250"/>
            </a:avLst>
          </a:prstGeom>
          <a:solidFill>
            <a:srgbClr val="F3EBFC"/>
          </a:solidFill>
          <a:ln/>
        </p:spPr>
      </p:sp>
      <p:sp>
        <p:nvSpPr>
          <p:cNvPr id="10" name="Text 8"/>
          <p:cNvSpPr/>
          <p:nvPr/>
        </p:nvSpPr>
        <p:spPr>
          <a:xfrm>
            <a:off x="6277356" y="1581912"/>
            <a:ext cx="5042916" cy="274320"/>
          </a:xfrm>
          <a:prstGeom prst="rect">
            <a:avLst/>
          </a:prstGeom>
          <a:noFill/>
          <a:ln/>
        </p:spPr>
        <p:txBody>
          <a:bodyPr wrap="square" rtlCol="0" anchor="t"/>
          <a:lstStyle/>
          <a:p>
            <a:pPr indent="0" marL="0">
              <a:buNone/>
            </a:pPr>
            <a:r>
              <a:rPr lang="en-US" sz="1300" b="1" dirty="0">
                <a:solidFill>
                  <a:srgbClr val="3F265B"/>
                </a:solidFill>
                <a:latin typeface="Lora" pitchFamily="34" charset="0"/>
                <a:ea typeface="Lora" pitchFamily="34" charset="-122"/>
                <a:cs typeface="Lora" pitchFamily="34" charset="-120"/>
              </a:rPr>
              <a:t>Second Plane (6–12)</a:t>
            </a:r>
            <a:endParaRPr lang="en-US" sz="1300" dirty="0"/>
          </a:p>
        </p:txBody>
      </p:sp>
      <p:sp>
        <p:nvSpPr>
          <p:cNvPr id="11" name="Text 9"/>
          <p:cNvSpPr/>
          <p:nvPr/>
        </p:nvSpPr>
        <p:spPr>
          <a:xfrm>
            <a:off x="6277356" y="1828800"/>
            <a:ext cx="5042916" cy="320040"/>
          </a:xfrm>
          <a:prstGeom prst="rect">
            <a:avLst/>
          </a:prstGeom>
          <a:noFill/>
          <a:ln/>
        </p:spPr>
        <p:txBody>
          <a:bodyPr wrap="square" rtlCol="0" anchor="t"/>
          <a:lstStyle/>
          <a:p>
            <a:pPr indent="0" marL="0">
              <a:lnSpc>
                <a:spcPct val="130000"/>
              </a:lnSpc>
              <a:buNone/>
            </a:pPr>
            <a:r>
              <a:rPr lang="en-US" sz="1000" dirty="0">
                <a:solidFill>
                  <a:srgbClr val="5C4A3A"/>
                </a:solidFill>
                <a:latin typeface="Inter" pitchFamily="34" charset="0"/>
                <a:ea typeface="Inter" pitchFamily="34" charset="-122"/>
                <a:cs typeface="Inter" pitchFamily="34" charset="-120"/>
              </a:rPr>
              <a:t>The reasoning mind. Intellectual exploration. Moral development. Period of calm, stable growth.</a:t>
            </a:r>
            <a:endParaRPr lang="en-US" sz="1000" dirty="0"/>
          </a:p>
        </p:txBody>
      </p:sp>
      <p:sp>
        <p:nvSpPr>
          <p:cNvPr id="12" name="Shape 10"/>
          <p:cNvSpPr/>
          <p:nvPr/>
        </p:nvSpPr>
        <p:spPr>
          <a:xfrm>
            <a:off x="731520" y="2331720"/>
            <a:ext cx="5317236" cy="731520"/>
          </a:xfrm>
          <a:prstGeom prst="rect">
            <a:avLst>
              <a:gd name="adj" fmla="val 6250"/>
            </a:avLst>
          </a:prstGeom>
          <a:solidFill>
            <a:srgbClr val="F3EBFC"/>
          </a:solidFill>
          <a:ln/>
        </p:spPr>
      </p:sp>
      <p:sp>
        <p:nvSpPr>
          <p:cNvPr id="13" name="Text 11"/>
          <p:cNvSpPr/>
          <p:nvPr/>
        </p:nvSpPr>
        <p:spPr>
          <a:xfrm>
            <a:off x="868680" y="2404872"/>
            <a:ext cx="5042916" cy="274320"/>
          </a:xfrm>
          <a:prstGeom prst="rect">
            <a:avLst/>
          </a:prstGeom>
          <a:noFill/>
          <a:ln/>
        </p:spPr>
        <p:txBody>
          <a:bodyPr wrap="square" rtlCol="0" anchor="t"/>
          <a:lstStyle/>
          <a:p>
            <a:pPr indent="0" marL="0">
              <a:buNone/>
            </a:pPr>
            <a:r>
              <a:rPr lang="en-US" sz="1300" b="1" dirty="0">
                <a:solidFill>
                  <a:srgbClr val="3F265B"/>
                </a:solidFill>
                <a:latin typeface="Lora" pitchFamily="34" charset="0"/>
                <a:ea typeface="Lora" pitchFamily="34" charset="-122"/>
                <a:cs typeface="Lora" pitchFamily="34" charset="-120"/>
              </a:rPr>
              <a:t>Third Plane (12–18)</a:t>
            </a:r>
            <a:endParaRPr lang="en-US" sz="1300" dirty="0"/>
          </a:p>
        </p:txBody>
      </p:sp>
      <p:sp>
        <p:nvSpPr>
          <p:cNvPr id="14" name="Text 12"/>
          <p:cNvSpPr/>
          <p:nvPr/>
        </p:nvSpPr>
        <p:spPr>
          <a:xfrm>
            <a:off x="868680" y="2651760"/>
            <a:ext cx="5042916" cy="320040"/>
          </a:xfrm>
          <a:prstGeom prst="rect">
            <a:avLst/>
          </a:prstGeom>
          <a:noFill/>
          <a:ln/>
        </p:spPr>
        <p:txBody>
          <a:bodyPr wrap="square" rtlCol="0" anchor="t"/>
          <a:lstStyle/>
          <a:p>
            <a:pPr indent="0" marL="0">
              <a:lnSpc>
                <a:spcPct val="130000"/>
              </a:lnSpc>
              <a:buNone/>
            </a:pPr>
            <a:r>
              <a:rPr lang="en-US" sz="1000" dirty="0">
                <a:solidFill>
                  <a:srgbClr val="5C4A3A"/>
                </a:solidFill>
                <a:latin typeface="Inter" pitchFamily="34" charset="0"/>
                <a:ea typeface="Inter" pitchFamily="34" charset="-122"/>
                <a:cs typeface="Inter" pitchFamily="34" charset="-120"/>
              </a:rPr>
              <a:t>Social rebirth. Creation of the social self. Physical transformation. Emotional intensity.</a:t>
            </a:r>
            <a:endParaRPr lang="en-US" sz="1000" dirty="0"/>
          </a:p>
        </p:txBody>
      </p:sp>
      <p:sp>
        <p:nvSpPr>
          <p:cNvPr id="15" name="Shape 13"/>
          <p:cNvSpPr/>
          <p:nvPr/>
        </p:nvSpPr>
        <p:spPr>
          <a:xfrm>
            <a:off x="6140196" y="2331720"/>
            <a:ext cx="5317236" cy="731520"/>
          </a:xfrm>
          <a:prstGeom prst="rect">
            <a:avLst>
              <a:gd name="adj" fmla="val 6250"/>
            </a:avLst>
          </a:prstGeom>
          <a:solidFill>
            <a:srgbClr val="F3EBFC"/>
          </a:solidFill>
          <a:ln/>
        </p:spPr>
      </p:sp>
      <p:sp>
        <p:nvSpPr>
          <p:cNvPr id="16" name="Text 14"/>
          <p:cNvSpPr/>
          <p:nvPr/>
        </p:nvSpPr>
        <p:spPr>
          <a:xfrm>
            <a:off x="6277356" y="2404872"/>
            <a:ext cx="5042916" cy="274320"/>
          </a:xfrm>
          <a:prstGeom prst="rect">
            <a:avLst/>
          </a:prstGeom>
          <a:noFill/>
          <a:ln/>
        </p:spPr>
        <p:txBody>
          <a:bodyPr wrap="square" rtlCol="0" anchor="t"/>
          <a:lstStyle/>
          <a:p>
            <a:pPr indent="0" marL="0">
              <a:buNone/>
            </a:pPr>
            <a:r>
              <a:rPr lang="en-US" sz="1300" b="1" dirty="0">
                <a:solidFill>
                  <a:srgbClr val="3F265B"/>
                </a:solidFill>
                <a:latin typeface="Lora" pitchFamily="34" charset="0"/>
                <a:ea typeface="Lora" pitchFamily="34" charset="-122"/>
                <a:cs typeface="Lora" pitchFamily="34" charset="-120"/>
              </a:rPr>
              <a:t>Fourth Plane (18–24)</a:t>
            </a:r>
            <a:endParaRPr lang="en-US" sz="1300" dirty="0"/>
          </a:p>
        </p:txBody>
      </p:sp>
      <p:sp>
        <p:nvSpPr>
          <p:cNvPr id="17" name="Text 15"/>
          <p:cNvSpPr/>
          <p:nvPr/>
        </p:nvSpPr>
        <p:spPr>
          <a:xfrm>
            <a:off x="6277356" y="2651760"/>
            <a:ext cx="5042916" cy="320040"/>
          </a:xfrm>
          <a:prstGeom prst="rect">
            <a:avLst/>
          </a:prstGeom>
          <a:noFill/>
          <a:ln/>
        </p:spPr>
        <p:txBody>
          <a:bodyPr wrap="square" rtlCol="0" anchor="t"/>
          <a:lstStyle/>
          <a:p>
            <a:pPr indent="0" marL="0">
              <a:lnSpc>
                <a:spcPct val="130000"/>
              </a:lnSpc>
              <a:buNone/>
            </a:pPr>
            <a:r>
              <a:rPr lang="en-US" sz="1000" dirty="0">
                <a:solidFill>
                  <a:srgbClr val="5C4A3A"/>
                </a:solidFill>
                <a:latin typeface="Inter" pitchFamily="34" charset="0"/>
                <a:ea typeface="Inter" pitchFamily="34" charset="-122"/>
                <a:cs typeface="Inter" pitchFamily="34" charset="-120"/>
              </a:rPr>
              <a:t>Maturity. Spiritual and moral independence. Specialization and contribution to society.</a:t>
            </a:r>
            <a:endParaRPr lang="en-US" sz="1000" dirty="0"/>
          </a:p>
        </p:txBody>
      </p:sp>
      <p:sp>
        <p:nvSpPr>
          <p:cNvPr id="18" name="Text 16"/>
          <p:cNvSpPr/>
          <p:nvPr/>
        </p:nvSpPr>
        <p:spPr>
          <a:xfrm>
            <a:off x="731520" y="3246120"/>
            <a:ext cx="10725912" cy="320040"/>
          </a:xfrm>
          <a:prstGeom prst="rect">
            <a:avLst/>
          </a:prstGeom>
          <a:noFill/>
          <a:ln/>
        </p:spPr>
        <p:txBody>
          <a:bodyPr wrap="square" rtlCol="0" anchor="ctr"/>
          <a:lstStyle/>
          <a:p>
            <a:pPr indent="0" marL="0">
              <a:buNone/>
            </a:pPr>
            <a:r>
              <a:rPr lang="en-US" sz="1500" b="1" dirty="0">
                <a:solidFill>
                  <a:srgbClr val="3F265B"/>
                </a:solidFill>
                <a:latin typeface="Lora" pitchFamily="34" charset="0"/>
                <a:ea typeface="Lora" pitchFamily="34" charset="-122"/>
                <a:cs typeface="Lora" pitchFamily="34" charset="-120"/>
              </a:rPr>
              <a:t>The Third Plane: A Period of Social Rebirth</a:t>
            </a:r>
            <a:endParaRPr lang="en-US" sz="1500" dirty="0"/>
          </a:p>
        </p:txBody>
      </p:sp>
      <p:sp>
        <p:nvSpPr>
          <p:cNvPr id="19" name="Text 17"/>
          <p:cNvSpPr/>
          <p:nvPr/>
        </p:nvSpPr>
        <p:spPr>
          <a:xfrm>
            <a:off x="731520" y="3520440"/>
            <a:ext cx="10725912" cy="777240"/>
          </a:xfrm>
          <a:prstGeom prst="rect">
            <a:avLst/>
          </a:prstGeom>
          <a:noFill/>
          <a:ln/>
        </p:spPr>
        <p:txBody>
          <a:bodyPr wrap="square" rtlCol="0" anchor="t"/>
          <a:lstStyle/>
          <a:p>
            <a:pPr indent="0" marL="0">
              <a:lnSpc>
                <a:spcPct val="130000"/>
              </a:lnSpc>
              <a:buNone/>
            </a:pPr>
            <a:r>
              <a:rPr lang="en-US" sz="1100" dirty="0">
                <a:solidFill>
                  <a:srgbClr val="5C4A3A"/>
                </a:solidFill>
                <a:latin typeface="Inter" pitchFamily="34" charset="0"/>
                <a:ea typeface="Inter" pitchFamily="34" charset="-122"/>
                <a:cs typeface="Inter" pitchFamily="34" charset="-120"/>
              </a:rPr>
              <a:t>Montessori described the transition to adolescence as a "social rebirth"—a period as dramatic and transformative as the first plane. Just as the young child constructs the individual self, the adolescent constructs the social self.</a:t>
            </a:r>
            <a:endParaRPr lang="en-US" sz="1100" dirty="0"/>
          </a:p>
          <a:p>
            <a:pPr indent="0" marL="0">
              <a:lnSpc>
                <a:spcPct val="130000"/>
              </a:lnSpc>
              <a:buNone/>
            </a:pPr>
            <a:endParaRPr lang="en-US" sz="1100" dirty="0"/>
          </a:p>
          <a:p>
            <a:pPr indent="0" marL="0">
              <a:lnSpc>
                <a:spcPct val="130000"/>
              </a:lnSpc>
              <a:buNone/>
            </a:pPr>
            <a:r>
              <a:rPr lang="en-US" sz="1100" dirty="0">
                <a:solidFill>
                  <a:srgbClr val="5C4A3A"/>
                </a:solidFill>
                <a:latin typeface="Inter" pitchFamily="34" charset="0"/>
                <a:ea typeface="Inter" pitchFamily="34" charset="-122"/>
                <a:cs typeface="Inter" pitchFamily="34" charset="-120"/>
              </a:rPr>
              <a:t>There are striking parallels between the First Plane (0–6) and the Third Plane (12–18):</a:t>
            </a:r>
            <a:endParaRPr lang="en-US" sz="1100" dirty="0"/>
          </a:p>
        </p:txBody>
      </p:sp>
      <p:sp>
        <p:nvSpPr>
          <p:cNvPr id="20" name="Text 18"/>
          <p:cNvSpPr/>
          <p:nvPr/>
        </p:nvSpPr>
        <p:spPr>
          <a:xfrm>
            <a:off x="914400" y="4297680"/>
            <a:ext cx="10360152" cy="1188720"/>
          </a:xfrm>
          <a:prstGeom prst="rect">
            <a:avLst/>
          </a:prstGeom>
          <a:noFill/>
          <a:ln/>
        </p:spPr>
        <p:txBody>
          <a:bodyPr wrap="square" rtlCol="0" anchor="t"/>
          <a:lstStyle/>
          <a:p>
            <a:pPr marL="342900" indent="-342900">
              <a:lnSpc>
                <a:spcPct val="130000"/>
              </a:lnSpc>
              <a:buSzPct val="100000"/>
              <a:buChar char="•"/>
            </a:pPr>
            <a:r>
              <a:rPr lang="en-US" sz="1000" dirty="0">
                <a:solidFill>
                  <a:srgbClr val="5C4A3A"/>
                </a:solidFill>
                <a:latin typeface="Inter" pitchFamily="34" charset="0"/>
                <a:ea typeface="Inter" pitchFamily="34" charset="-122"/>
                <a:cs typeface="Inter" pitchFamily="34" charset="-120"/>
              </a:rPr>
              <a:t>Both are periods of dramatic physical transformation and rapid growth</a:t>
            </a:r>
            <a:endParaRPr lang="en-US" sz="1000" dirty="0"/>
          </a:p>
          <a:p>
            <a:pPr marL="342900" indent="-342900">
              <a:lnSpc>
                <a:spcPct val="130000"/>
              </a:lnSpc>
              <a:buSzPct val="100000"/>
              <a:buChar char="•"/>
            </a:pPr>
            <a:r>
              <a:rPr lang="en-US" sz="1000" dirty="0">
                <a:solidFill>
                  <a:srgbClr val="5C4A3A"/>
                </a:solidFill>
                <a:latin typeface="Inter" pitchFamily="34" charset="0"/>
                <a:ea typeface="Inter" pitchFamily="34" charset="-122"/>
                <a:cs typeface="Inter" pitchFamily="34" charset="-120"/>
              </a:rPr>
              <a:t>Both involve heightened sensitivity, vulnerability, and instability</a:t>
            </a:r>
            <a:endParaRPr lang="en-US" sz="1000" dirty="0"/>
          </a:p>
          <a:p>
            <a:pPr marL="342900" indent="-342900">
              <a:lnSpc>
                <a:spcPct val="130000"/>
              </a:lnSpc>
              <a:buSzPct val="100000"/>
              <a:buChar char="•"/>
            </a:pPr>
            <a:r>
              <a:rPr lang="en-US" sz="1000" dirty="0">
                <a:solidFill>
                  <a:srgbClr val="5C4A3A"/>
                </a:solidFill>
                <a:latin typeface="Inter" pitchFamily="34" charset="0"/>
                <a:ea typeface="Inter" pitchFamily="34" charset="-122"/>
                <a:cs typeface="Inter" pitchFamily="34" charset="-120"/>
              </a:rPr>
              <a:t>Both are creative periods where something entirely new is being constructed</a:t>
            </a:r>
            <a:endParaRPr lang="en-US" sz="1000" dirty="0"/>
          </a:p>
          <a:p>
            <a:pPr marL="342900" indent="-342900">
              <a:lnSpc>
                <a:spcPct val="130000"/>
              </a:lnSpc>
              <a:buSzPct val="100000"/>
              <a:buChar char="•"/>
            </a:pPr>
            <a:r>
              <a:rPr lang="en-US" sz="1000" dirty="0">
                <a:solidFill>
                  <a:srgbClr val="5C4A3A"/>
                </a:solidFill>
                <a:latin typeface="Inter" pitchFamily="34" charset="0"/>
                <a:ea typeface="Inter" pitchFamily="34" charset="-122"/>
                <a:cs typeface="Inter" pitchFamily="34" charset="-120"/>
              </a:rPr>
              <a:t>Both require specially prepared environments that support the developmental work</a:t>
            </a:r>
            <a:endParaRPr lang="en-US" sz="1000" dirty="0"/>
          </a:p>
          <a:p>
            <a:pPr marL="342900" indent="-342900">
              <a:lnSpc>
                <a:spcPct val="130000"/>
              </a:lnSpc>
              <a:buSzPct val="100000"/>
              <a:buChar char="•"/>
            </a:pPr>
            <a:r>
              <a:rPr lang="en-US" sz="1000" dirty="0">
                <a:solidFill>
                  <a:srgbClr val="5C4A3A"/>
                </a:solidFill>
                <a:latin typeface="Inter" pitchFamily="34" charset="0"/>
                <a:ea typeface="Inter" pitchFamily="34" charset="-122"/>
                <a:cs typeface="Inter" pitchFamily="34" charset="-120"/>
              </a:rPr>
              <a:t>In both periods, energy is directed inward toward construction, which can result in decreased outward performance</a:t>
            </a:r>
            <a:endParaRPr lang="en-US" sz="1000" dirty="0"/>
          </a:p>
        </p:txBody>
      </p:sp>
      <p:sp>
        <p:nvSpPr>
          <p:cNvPr id="21" name="Shape 19"/>
          <p:cNvSpPr/>
          <p:nvPr/>
        </p:nvSpPr>
        <p:spPr>
          <a:xfrm>
            <a:off x="731520" y="5577840"/>
            <a:ext cx="54864" cy="1097280"/>
          </a:xfrm>
          <a:prstGeom prst="rect">
            <a:avLst/>
          </a:prstGeom>
          <a:solidFill>
            <a:srgbClr val="C4A94D"/>
          </a:solidFill>
          <a:ln/>
        </p:spPr>
      </p:sp>
      <p:sp>
        <p:nvSpPr>
          <p:cNvPr id="22" name="Shape 20"/>
          <p:cNvSpPr/>
          <p:nvPr/>
        </p:nvSpPr>
        <p:spPr>
          <a:xfrm>
            <a:off x="786384" y="5577840"/>
            <a:ext cx="10671048" cy="1097280"/>
          </a:xfrm>
          <a:prstGeom prst="rect">
            <a:avLst/>
          </a:prstGeom>
          <a:solidFill>
            <a:srgbClr val="F3EBFC"/>
          </a:solidFill>
          <a:ln/>
        </p:spPr>
      </p:sp>
      <p:sp>
        <p:nvSpPr>
          <p:cNvPr id="23" name="Text 21"/>
          <p:cNvSpPr/>
          <p:nvPr/>
        </p:nvSpPr>
        <p:spPr>
          <a:xfrm>
            <a:off x="1005840" y="5669280"/>
            <a:ext cx="10177272" cy="685800"/>
          </a:xfrm>
          <a:prstGeom prst="rect">
            <a:avLst/>
          </a:prstGeom>
          <a:noFill/>
          <a:ln/>
        </p:spPr>
        <p:txBody>
          <a:bodyPr wrap="square" rtlCol="0" anchor="ctr"/>
          <a:lstStyle/>
          <a:p>
            <a:pPr algn="ctr" indent="0" marL="0">
              <a:buNone/>
            </a:pPr>
            <a:r>
              <a:rPr lang="en-US" sz="1200" i="1" dirty="0">
                <a:solidFill>
                  <a:srgbClr val="3F265B"/>
                </a:solidFill>
                <a:latin typeface="Lora" pitchFamily="34" charset="0"/>
                <a:ea typeface="Lora" pitchFamily="34" charset="-122"/>
                <a:cs typeface="Lora" pitchFamily="34" charset="-120"/>
              </a:rPr>
              <a:t>"We can establish a parallel between childhood and adolescence. In both we see a creative, constructive period, and in both there appears instability, both physical and mental, and both are periods of transformation."</a:t>
            </a:r>
            <a:endParaRPr lang="en-US" sz="1200" dirty="0"/>
          </a:p>
        </p:txBody>
      </p:sp>
      <p:sp>
        <p:nvSpPr>
          <p:cNvPr id="24" name="Text 22"/>
          <p:cNvSpPr/>
          <p:nvPr/>
        </p:nvSpPr>
        <p:spPr>
          <a:xfrm>
            <a:off x="1005840" y="6355080"/>
            <a:ext cx="10177272" cy="228600"/>
          </a:xfrm>
          <a:prstGeom prst="rect">
            <a:avLst/>
          </a:prstGeom>
          <a:noFill/>
          <a:ln/>
        </p:spPr>
        <p:txBody>
          <a:bodyPr wrap="square" rtlCol="0" anchor="ctr"/>
          <a:lstStyle/>
          <a:p>
            <a:pPr algn="ctr" indent="0" marL="0">
              <a:buNone/>
            </a:pPr>
            <a:r>
              <a:rPr lang="en-US" sz="1000" dirty="0">
                <a:solidFill>
                  <a:srgbClr val="C4A94D"/>
                </a:solidFill>
                <a:latin typeface="Inter" pitchFamily="34" charset="0"/>
                <a:ea typeface="Inter" pitchFamily="34" charset="-122"/>
                <a:cs typeface="Inter" pitchFamily="34" charset="-120"/>
              </a:rPr>
              <a:t>— Maria Montessori</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731520" y="6446520"/>
            <a:ext cx="2743200" cy="274320"/>
          </a:xfrm>
          <a:prstGeom prst="rect">
            <a:avLst/>
          </a:prstGeom>
          <a:noFill/>
          <a:ln/>
        </p:spPr>
        <p:txBody>
          <a:bodyPr wrap="square" rtlCol="0" anchor="ctr"/>
          <a:lstStyle/>
          <a:p>
            <a:pPr indent="0" marL="0">
              <a:buNone/>
            </a:pPr>
            <a:r>
              <a:rPr lang="en-US" sz="800" dirty="0">
                <a:solidFill>
                  <a:srgbClr val="C4A94D"/>
                </a:solidFill>
                <a:latin typeface="Inter" pitchFamily="34" charset="0"/>
                <a:ea typeface="Inter" pitchFamily="34" charset="-122"/>
                <a:cs typeface="Inter" pitchFamily="34" charset="-120"/>
              </a:rPr>
              <a:t>montessoriforadolescents.com</a:t>
            </a:r>
            <a:endParaRPr lang="en-US" sz="800" dirty="0"/>
          </a:p>
        </p:txBody>
      </p:sp>
      <p:sp>
        <p:nvSpPr>
          <p:cNvPr id="3" name="Text 1"/>
          <p:cNvSpPr/>
          <p:nvPr/>
        </p:nvSpPr>
        <p:spPr>
          <a:xfrm>
            <a:off x="731520" y="365760"/>
            <a:ext cx="10725912" cy="502920"/>
          </a:xfrm>
          <a:prstGeom prst="rect">
            <a:avLst/>
          </a:prstGeom>
          <a:noFill/>
          <a:ln/>
        </p:spPr>
        <p:txBody>
          <a:bodyPr wrap="square" rtlCol="0" anchor="ctr"/>
          <a:lstStyle/>
          <a:p>
            <a:pPr indent="0" marL="0">
              <a:buNone/>
            </a:pPr>
            <a:r>
              <a:rPr lang="en-US" sz="2400" b="1" dirty="0">
                <a:solidFill>
                  <a:srgbClr val="3F265B"/>
                </a:solidFill>
                <a:latin typeface="Lora" pitchFamily="34" charset="0"/>
                <a:ea typeface="Lora" pitchFamily="34" charset="-122"/>
                <a:cs typeface="Lora" pitchFamily="34" charset="-120"/>
              </a:rPr>
              <a:t>Physical Characteristics</a:t>
            </a:r>
            <a:endParaRPr lang="en-US" sz="2400" dirty="0"/>
          </a:p>
        </p:txBody>
      </p:sp>
      <p:sp>
        <p:nvSpPr>
          <p:cNvPr id="4" name="Shape 2"/>
          <p:cNvSpPr/>
          <p:nvPr/>
        </p:nvSpPr>
        <p:spPr>
          <a:xfrm>
            <a:off x="731520" y="822960"/>
            <a:ext cx="10725912" cy="0"/>
          </a:xfrm>
          <a:prstGeom prst="line">
            <a:avLst/>
          </a:prstGeom>
          <a:noFill/>
          <a:ln w="19050">
            <a:solidFill>
              <a:srgbClr val="C4A94D"/>
            </a:solidFill>
            <a:prstDash val="solid"/>
          </a:ln>
        </p:spPr>
      </p:sp>
      <p:sp>
        <p:nvSpPr>
          <p:cNvPr id="5" name="Text 3"/>
          <p:cNvSpPr/>
          <p:nvPr/>
        </p:nvSpPr>
        <p:spPr>
          <a:xfrm>
            <a:off x="731520" y="960120"/>
            <a:ext cx="10725912" cy="457200"/>
          </a:xfrm>
          <a:prstGeom prst="rect">
            <a:avLst/>
          </a:prstGeom>
          <a:noFill/>
          <a:ln/>
        </p:spPr>
        <p:txBody>
          <a:bodyPr wrap="square" rtlCol="0" anchor="t"/>
          <a:lstStyle/>
          <a:p>
            <a:pPr indent="0" marL="0">
              <a:lnSpc>
                <a:spcPct val="130000"/>
              </a:lnSpc>
              <a:buNone/>
            </a:pPr>
            <a:r>
              <a:rPr lang="en-US" sz="1100" dirty="0">
                <a:solidFill>
                  <a:srgbClr val="5C4A3A"/>
                </a:solidFill>
                <a:latin typeface="Inter" pitchFamily="34" charset="0"/>
                <a:ea typeface="Inter" pitchFamily="34" charset="-122"/>
                <a:cs typeface="Inter" pitchFamily="34" charset="-120"/>
              </a:rPr>
              <a:t>The adolescent's body undergoes profound changes during the Third Plane. Montessori identified three sub-phases within this period, each with distinct physical characteristics:</a:t>
            </a:r>
            <a:endParaRPr lang="en-US" sz="1100" dirty="0"/>
          </a:p>
        </p:txBody>
      </p:sp>
      <p:sp>
        <p:nvSpPr>
          <p:cNvPr id="6" name="Shape 4"/>
          <p:cNvSpPr/>
          <p:nvPr/>
        </p:nvSpPr>
        <p:spPr>
          <a:xfrm>
            <a:off x="731520" y="1417320"/>
            <a:ext cx="3511296" cy="320040"/>
          </a:xfrm>
          <a:prstGeom prst="rect">
            <a:avLst/>
          </a:prstGeom>
          <a:solidFill>
            <a:srgbClr val="F3EBFC"/>
          </a:solidFill>
          <a:ln/>
        </p:spPr>
      </p:sp>
      <p:sp>
        <p:nvSpPr>
          <p:cNvPr id="7" name="Text 5"/>
          <p:cNvSpPr/>
          <p:nvPr/>
        </p:nvSpPr>
        <p:spPr>
          <a:xfrm>
            <a:off x="731520" y="1417320"/>
            <a:ext cx="3511296" cy="320040"/>
          </a:xfrm>
          <a:prstGeom prst="rect">
            <a:avLst/>
          </a:prstGeom>
          <a:noFill/>
          <a:ln/>
        </p:spPr>
        <p:txBody>
          <a:bodyPr wrap="square" rtlCol="0" anchor="ctr"/>
          <a:lstStyle/>
          <a:p>
            <a:pPr algn="ctr" indent="0" marL="0">
              <a:buNone/>
            </a:pPr>
            <a:r>
              <a:rPr lang="en-US" sz="1200" b="1" dirty="0">
                <a:solidFill>
                  <a:srgbClr val="3F265B"/>
                </a:solidFill>
                <a:latin typeface="Lora" pitchFamily="34" charset="0"/>
                <a:ea typeface="Lora" pitchFamily="34" charset="-122"/>
                <a:cs typeface="Lora" pitchFamily="34" charset="-120"/>
              </a:rPr>
              <a:t>Preparation (12–14)</a:t>
            </a:r>
            <a:endParaRPr lang="en-US" sz="1200" dirty="0"/>
          </a:p>
        </p:txBody>
      </p:sp>
      <p:sp>
        <p:nvSpPr>
          <p:cNvPr id="8" name="Text 6"/>
          <p:cNvSpPr/>
          <p:nvPr/>
        </p:nvSpPr>
        <p:spPr>
          <a:xfrm>
            <a:off x="822960" y="1783080"/>
            <a:ext cx="3328416" cy="731520"/>
          </a:xfrm>
          <a:prstGeom prst="rect">
            <a:avLst/>
          </a:prstGeom>
          <a:noFill/>
          <a:ln/>
        </p:spPr>
        <p:txBody>
          <a:bodyPr wrap="square" rtlCol="0" anchor="t"/>
          <a:lstStyle/>
          <a:p>
            <a:pPr indent="0" marL="0">
              <a:lnSpc>
                <a:spcPct val="120000"/>
              </a:lnSpc>
              <a:buNone/>
            </a:pPr>
            <a:r>
              <a:rPr lang="en-US" sz="950" dirty="0">
                <a:solidFill>
                  <a:srgbClr val="5C4A3A"/>
                </a:solidFill>
                <a:latin typeface="Inter" pitchFamily="34" charset="0"/>
                <a:ea typeface="Inter" pitchFamily="34" charset="-122"/>
                <a:cs typeface="Inter" pitchFamily="34" charset="-120"/>
              </a:rPr>
              <a:t>Onset of puberty. Rapid, uneven growth. The body becomes awkward and disproportionate. Energy fluctuates unpredictably.</a:t>
            </a:r>
            <a:endParaRPr lang="en-US" sz="950" dirty="0"/>
          </a:p>
        </p:txBody>
      </p:sp>
      <p:sp>
        <p:nvSpPr>
          <p:cNvPr id="9" name="Shape 7"/>
          <p:cNvSpPr/>
          <p:nvPr/>
        </p:nvSpPr>
        <p:spPr>
          <a:xfrm>
            <a:off x="4334256" y="1417320"/>
            <a:ext cx="3511296" cy="320040"/>
          </a:xfrm>
          <a:prstGeom prst="rect">
            <a:avLst/>
          </a:prstGeom>
          <a:solidFill>
            <a:srgbClr val="F3EBFC"/>
          </a:solidFill>
          <a:ln/>
        </p:spPr>
      </p:sp>
      <p:sp>
        <p:nvSpPr>
          <p:cNvPr id="10" name="Text 8"/>
          <p:cNvSpPr/>
          <p:nvPr/>
        </p:nvSpPr>
        <p:spPr>
          <a:xfrm>
            <a:off x="4334256" y="1417320"/>
            <a:ext cx="3511296" cy="320040"/>
          </a:xfrm>
          <a:prstGeom prst="rect">
            <a:avLst/>
          </a:prstGeom>
          <a:noFill/>
          <a:ln/>
        </p:spPr>
        <p:txBody>
          <a:bodyPr wrap="square" rtlCol="0" anchor="ctr"/>
          <a:lstStyle/>
          <a:p>
            <a:pPr algn="ctr" indent="0" marL="0">
              <a:buNone/>
            </a:pPr>
            <a:r>
              <a:rPr lang="en-US" sz="1200" b="1" dirty="0">
                <a:solidFill>
                  <a:srgbClr val="3F265B"/>
                </a:solidFill>
                <a:latin typeface="Lora" pitchFamily="34" charset="0"/>
                <a:ea typeface="Lora" pitchFamily="34" charset="-122"/>
                <a:cs typeface="Lora" pitchFamily="34" charset="-120"/>
              </a:rPr>
              <a:t>Blooming (14–16)</a:t>
            </a:r>
            <a:endParaRPr lang="en-US" sz="1200" dirty="0"/>
          </a:p>
        </p:txBody>
      </p:sp>
      <p:sp>
        <p:nvSpPr>
          <p:cNvPr id="11" name="Text 9"/>
          <p:cNvSpPr/>
          <p:nvPr/>
        </p:nvSpPr>
        <p:spPr>
          <a:xfrm>
            <a:off x="4425696" y="1783080"/>
            <a:ext cx="3328416" cy="731520"/>
          </a:xfrm>
          <a:prstGeom prst="rect">
            <a:avLst/>
          </a:prstGeom>
          <a:noFill/>
          <a:ln/>
        </p:spPr>
        <p:txBody>
          <a:bodyPr wrap="square" rtlCol="0" anchor="t"/>
          <a:lstStyle/>
          <a:p>
            <a:pPr indent="0" marL="0">
              <a:lnSpc>
                <a:spcPct val="120000"/>
              </a:lnSpc>
              <a:buNone/>
            </a:pPr>
            <a:r>
              <a:rPr lang="en-US" sz="950" dirty="0">
                <a:solidFill>
                  <a:srgbClr val="5C4A3A"/>
                </a:solidFill>
                <a:latin typeface="Inter" pitchFamily="34" charset="0"/>
                <a:ea typeface="Inter" pitchFamily="34" charset="-122"/>
                <a:cs typeface="Inter" pitchFamily="34" charset="-120"/>
              </a:rPr>
              <a:t>The body fills out and matures. Sexual development progresses. Physical energy increases but remains unsteady. Strength builds.</a:t>
            </a:r>
            <a:endParaRPr lang="en-US" sz="950" dirty="0"/>
          </a:p>
        </p:txBody>
      </p:sp>
      <p:sp>
        <p:nvSpPr>
          <p:cNvPr id="12" name="Shape 10"/>
          <p:cNvSpPr/>
          <p:nvPr/>
        </p:nvSpPr>
        <p:spPr>
          <a:xfrm>
            <a:off x="7936992" y="1417320"/>
            <a:ext cx="3511296" cy="320040"/>
          </a:xfrm>
          <a:prstGeom prst="rect">
            <a:avLst/>
          </a:prstGeom>
          <a:solidFill>
            <a:srgbClr val="F3EBFC"/>
          </a:solidFill>
          <a:ln/>
        </p:spPr>
      </p:sp>
      <p:sp>
        <p:nvSpPr>
          <p:cNvPr id="13" name="Text 11"/>
          <p:cNvSpPr/>
          <p:nvPr/>
        </p:nvSpPr>
        <p:spPr>
          <a:xfrm>
            <a:off x="7936992" y="1417320"/>
            <a:ext cx="3511296" cy="320040"/>
          </a:xfrm>
          <a:prstGeom prst="rect">
            <a:avLst/>
          </a:prstGeom>
          <a:noFill/>
          <a:ln/>
        </p:spPr>
        <p:txBody>
          <a:bodyPr wrap="square" rtlCol="0" anchor="ctr"/>
          <a:lstStyle/>
          <a:p>
            <a:pPr algn="ctr" indent="0" marL="0">
              <a:buNone/>
            </a:pPr>
            <a:r>
              <a:rPr lang="en-US" sz="1200" b="1" dirty="0">
                <a:solidFill>
                  <a:srgbClr val="3F265B"/>
                </a:solidFill>
                <a:latin typeface="Lora" pitchFamily="34" charset="0"/>
                <a:ea typeface="Lora" pitchFamily="34" charset="-122"/>
                <a:cs typeface="Lora" pitchFamily="34" charset="-120"/>
              </a:rPr>
              <a:t>Perfection (16–18)</a:t>
            </a:r>
            <a:endParaRPr lang="en-US" sz="1200" dirty="0"/>
          </a:p>
        </p:txBody>
      </p:sp>
      <p:sp>
        <p:nvSpPr>
          <p:cNvPr id="14" name="Text 12"/>
          <p:cNvSpPr/>
          <p:nvPr/>
        </p:nvSpPr>
        <p:spPr>
          <a:xfrm>
            <a:off x="8028432" y="1783080"/>
            <a:ext cx="3328416" cy="731520"/>
          </a:xfrm>
          <a:prstGeom prst="rect">
            <a:avLst/>
          </a:prstGeom>
          <a:noFill/>
          <a:ln/>
        </p:spPr>
        <p:txBody>
          <a:bodyPr wrap="square" rtlCol="0" anchor="t"/>
          <a:lstStyle/>
          <a:p>
            <a:pPr indent="0" marL="0">
              <a:lnSpc>
                <a:spcPct val="120000"/>
              </a:lnSpc>
              <a:buNone/>
            </a:pPr>
            <a:r>
              <a:rPr lang="en-US" sz="950" dirty="0">
                <a:solidFill>
                  <a:srgbClr val="5C4A3A"/>
                </a:solidFill>
                <a:latin typeface="Inter" pitchFamily="34" charset="0"/>
                <a:ea typeface="Inter" pitchFamily="34" charset="-122"/>
                <a:cs typeface="Inter" pitchFamily="34" charset="-120"/>
              </a:rPr>
              <a:t>The body reaches near-adult form. Physical coordination and grace return. Energy stabilizes. The young person becomes physically capable.</a:t>
            </a:r>
            <a:endParaRPr lang="en-US" sz="950" dirty="0"/>
          </a:p>
        </p:txBody>
      </p:sp>
      <p:sp>
        <p:nvSpPr>
          <p:cNvPr id="15" name="Text 13"/>
          <p:cNvSpPr/>
          <p:nvPr/>
        </p:nvSpPr>
        <p:spPr>
          <a:xfrm>
            <a:off x="731520" y="2606040"/>
            <a:ext cx="10725912" cy="320040"/>
          </a:xfrm>
          <a:prstGeom prst="rect">
            <a:avLst/>
          </a:prstGeom>
          <a:noFill/>
          <a:ln/>
        </p:spPr>
        <p:txBody>
          <a:bodyPr wrap="square" rtlCol="0" anchor="ctr"/>
          <a:lstStyle/>
          <a:p>
            <a:pPr indent="0" marL="0">
              <a:buNone/>
            </a:pPr>
            <a:r>
              <a:rPr lang="en-US" sz="1500" b="1" dirty="0">
                <a:solidFill>
                  <a:srgbClr val="3F265B"/>
                </a:solidFill>
                <a:latin typeface="Lora" pitchFamily="34" charset="0"/>
                <a:ea typeface="Lora" pitchFamily="34" charset="-122"/>
                <a:cs typeface="Lora" pitchFamily="34" charset="-120"/>
              </a:rPr>
              <a:t>Key Physical Needs</a:t>
            </a:r>
            <a:endParaRPr lang="en-US" sz="1500" dirty="0"/>
          </a:p>
        </p:txBody>
      </p:sp>
      <p:sp>
        <p:nvSpPr>
          <p:cNvPr id="16" name="Shape 14"/>
          <p:cNvSpPr/>
          <p:nvPr/>
        </p:nvSpPr>
        <p:spPr>
          <a:xfrm>
            <a:off x="731520" y="2926080"/>
            <a:ext cx="2011680" cy="685800"/>
          </a:xfrm>
          <a:prstGeom prst="rect">
            <a:avLst/>
          </a:prstGeom>
          <a:solidFill>
            <a:srgbClr val="F3EBFC"/>
          </a:solidFill>
          <a:ln/>
        </p:spPr>
      </p:sp>
      <p:sp>
        <p:nvSpPr>
          <p:cNvPr id="17" name="Text 15"/>
          <p:cNvSpPr/>
          <p:nvPr/>
        </p:nvSpPr>
        <p:spPr>
          <a:xfrm>
            <a:off x="868680" y="2926080"/>
            <a:ext cx="1737360" cy="685800"/>
          </a:xfrm>
          <a:prstGeom prst="rect">
            <a:avLst/>
          </a:prstGeom>
          <a:noFill/>
          <a:ln/>
        </p:spPr>
        <p:txBody>
          <a:bodyPr wrap="square" rtlCol="0" anchor="ctr"/>
          <a:lstStyle/>
          <a:p>
            <a:pPr indent="0" marL="0">
              <a:buNone/>
            </a:pPr>
            <a:r>
              <a:rPr lang="en-US" sz="1200" dirty="0">
                <a:solidFill>
                  <a:srgbClr val="3F265B"/>
                </a:solidFill>
                <a:latin typeface="Lora" pitchFamily="34" charset="0"/>
                <a:ea typeface="Lora" pitchFamily="34" charset="-122"/>
                <a:cs typeface="Lora" pitchFamily="34" charset="-120"/>
              </a:rPr>
              <a:t>Fatigue</a:t>
            </a:r>
            <a:endParaRPr lang="en-US" sz="1200" dirty="0"/>
          </a:p>
        </p:txBody>
      </p:sp>
      <p:sp>
        <p:nvSpPr>
          <p:cNvPr id="18" name="Shape 16"/>
          <p:cNvSpPr/>
          <p:nvPr/>
        </p:nvSpPr>
        <p:spPr>
          <a:xfrm>
            <a:off x="731520" y="3611880"/>
            <a:ext cx="10725912" cy="0"/>
          </a:xfrm>
          <a:prstGeom prst="line">
            <a:avLst/>
          </a:prstGeom>
          <a:noFill/>
          <a:ln w="6350">
            <a:solidFill>
              <a:srgbClr val="E4D2F8"/>
            </a:solidFill>
            <a:prstDash val="solid"/>
          </a:ln>
        </p:spPr>
      </p:sp>
      <p:sp>
        <p:nvSpPr>
          <p:cNvPr id="19" name="Text 17"/>
          <p:cNvSpPr/>
          <p:nvPr/>
        </p:nvSpPr>
        <p:spPr>
          <a:xfrm>
            <a:off x="2926080" y="2971800"/>
            <a:ext cx="8439912" cy="594360"/>
          </a:xfrm>
          <a:prstGeom prst="rect">
            <a:avLst/>
          </a:prstGeom>
          <a:noFill/>
          <a:ln/>
        </p:spPr>
        <p:txBody>
          <a:bodyPr wrap="square" rtlCol="0" anchor="ctr"/>
          <a:lstStyle/>
          <a:p>
            <a:pPr indent="0" marL="0">
              <a:lnSpc>
                <a:spcPct val="120000"/>
              </a:lnSpc>
              <a:buNone/>
            </a:pPr>
            <a:r>
              <a:rPr lang="en-US" sz="1000" dirty="0">
                <a:solidFill>
                  <a:srgbClr val="5C4A3A"/>
                </a:solidFill>
                <a:latin typeface="Inter" pitchFamily="34" charset="0"/>
                <a:ea typeface="Inter" pitchFamily="34" charset="-122"/>
                <a:cs typeface="Inter" pitchFamily="34" charset="-120"/>
              </a:rPr>
              <a:t>Adolescents tire easily and unpredictably. The enormous energy required for physical growth leaves less available for sustained intellectual work. Rest and sleep are essential—not laziness.</a:t>
            </a:r>
            <a:endParaRPr lang="en-US" sz="1000" dirty="0"/>
          </a:p>
        </p:txBody>
      </p:sp>
      <p:sp>
        <p:nvSpPr>
          <p:cNvPr id="20" name="Shape 18"/>
          <p:cNvSpPr/>
          <p:nvPr/>
        </p:nvSpPr>
        <p:spPr>
          <a:xfrm>
            <a:off x="731520" y="3611880"/>
            <a:ext cx="2011680" cy="685800"/>
          </a:xfrm>
          <a:prstGeom prst="rect">
            <a:avLst/>
          </a:prstGeom>
          <a:solidFill>
            <a:srgbClr val="F3EBFC"/>
          </a:solidFill>
          <a:ln/>
        </p:spPr>
      </p:sp>
      <p:sp>
        <p:nvSpPr>
          <p:cNvPr id="21" name="Text 19"/>
          <p:cNvSpPr/>
          <p:nvPr/>
        </p:nvSpPr>
        <p:spPr>
          <a:xfrm>
            <a:off x="868680" y="3611880"/>
            <a:ext cx="1737360" cy="685800"/>
          </a:xfrm>
          <a:prstGeom prst="rect">
            <a:avLst/>
          </a:prstGeom>
          <a:noFill/>
          <a:ln/>
        </p:spPr>
        <p:txBody>
          <a:bodyPr wrap="square" rtlCol="0" anchor="ctr"/>
          <a:lstStyle/>
          <a:p>
            <a:pPr indent="0" marL="0">
              <a:buNone/>
            </a:pPr>
            <a:r>
              <a:rPr lang="en-US" sz="1200" dirty="0">
                <a:solidFill>
                  <a:srgbClr val="3F265B"/>
                </a:solidFill>
                <a:latin typeface="Lora" pitchFamily="34" charset="0"/>
                <a:ea typeface="Lora" pitchFamily="34" charset="-122"/>
                <a:cs typeface="Lora" pitchFamily="34" charset="-120"/>
              </a:rPr>
              <a:t>Nutrition</a:t>
            </a:r>
            <a:endParaRPr lang="en-US" sz="1200" dirty="0"/>
          </a:p>
        </p:txBody>
      </p:sp>
      <p:sp>
        <p:nvSpPr>
          <p:cNvPr id="22" name="Shape 20"/>
          <p:cNvSpPr/>
          <p:nvPr/>
        </p:nvSpPr>
        <p:spPr>
          <a:xfrm>
            <a:off x="731520" y="4297680"/>
            <a:ext cx="10725912" cy="0"/>
          </a:xfrm>
          <a:prstGeom prst="line">
            <a:avLst/>
          </a:prstGeom>
          <a:noFill/>
          <a:ln w="6350">
            <a:solidFill>
              <a:srgbClr val="E4D2F8"/>
            </a:solidFill>
            <a:prstDash val="solid"/>
          </a:ln>
        </p:spPr>
      </p:sp>
      <p:sp>
        <p:nvSpPr>
          <p:cNvPr id="23" name="Text 21"/>
          <p:cNvSpPr/>
          <p:nvPr/>
        </p:nvSpPr>
        <p:spPr>
          <a:xfrm>
            <a:off x="2926080" y="3657600"/>
            <a:ext cx="8439912" cy="594360"/>
          </a:xfrm>
          <a:prstGeom prst="rect">
            <a:avLst/>
          </a:prstGeom>
          <a:noFill/>
          <a:ln/>
        </p:spPr>
        <p:txBody>
          <a:bodyPr wrap="square" rtlCol="0" anchor="ctr"/>
          <a:lstStyle/>
          <a:p>
            <a:pPr indent="0" marL="0">
              <a:lnSpc>
                <a:spcPct val="120000"/>
              </a:lnSpc>
              <a:buNone/>
            </a:pPr>
            <a:r>
              <a:rPr lang="en-US" sz="1000" dirty="0">
                <a:solidFill>
                  <a:srgbClr val="5C4A3A"/>
                </a:solidFill>
                <a:latin typeface="Inter" pitchFamily="34" charset="0"/>
                <a:ea typeface="Inter" pitchFamily="34" charset="-122"/>
                <a:cs typeface="Inter" pitchFamily="34" charset="-120"/>
              </a:rPr>
              <a:t>The growing body has heightened nutritional needs. Montessori emphasized nourishing food—ideally grown and prepared by the adolescents themselves.</a:t>
            </a:r>
            <a:endParaRPr lang="en-US" sz="1000" dirty="0"/>
          </a:p>
        </p:txBody>
      </p:sp>
      <p:sp>
        <p:nvSpPr>
          <p:cNvPr id="24" name="Shape 22"/>
          <p:cNvSpPr/>
          <p:nvPr/>
        </p:nvSpPr>
        <p:spPr>
          <a:xfrm>
            <a:off x="731520" y="4297680"/>
            <a:ext cx="2011680" cy="685800"/>
          </a:xfrm>
          <a:prstGeom prst="rect">
            <a:avLst/>
          </a:prstGeom>
          <a:solidFill>
            <a:srgbClr val="F3EBFC"/>
          </a:solidFill>
          <a:ln/>
        </p:spPr>
      </p:sp>
      <p:sp>
        <p:nvSpPr>
          <p:cNvPr id="25" name="Text 23"/>
          <p:cNvSpPr/>
          <p:nvPr/>
        </p:nvSpPr>
        <p:spPr>
          <a:xfrm>
            <a:off x="868680" y="4297680"/>
            <a:ext cx="1737360" cy="685800"/>
          </a:xfrm>
          <a:prstGeom prst="rect">
            <a:avLst/>
          </a:prstGeom>
          <a:noFill/>
          <a:ln/>
        </p:spPr>
        <p:txBody>
          <a:bodyPr wrap="square" rtlCol="0" anchor="ctr"/>
          <a:lstStyle/>
          <a:p>
            <a:pPr indent="0" marL="0">
              <a:buNone/>
            </a:pPr>
            <a:r>
              <a:rPr lang="en-US" sz="1200" dirty="0">
                <a:solidFill>
                  <a:srgbClr val="3F265B"/>
                </a:solidFill>
                <a:latin typeface="Lora" pitchFamily="34" charset="0"/>
                <a:ea typeface="Lora" pitchFamily="34" charset="-122"/>
                <a:cs typeface="Lora" pitchFamily="34" charset="-120"/>
              </a:rPr>
              <a:t>Exercise</a:t>
            </a:r>
            <a:endParaRPr lang="en-US" sz="1200" dirty="0"/>
          </a:p>
        </p:txBody>
      </p:sp>
      <p:sp>
        <p:nvSpPr>
          <p:cNvPr id="26" name="Shape 24"/>
          <p:cNvSpPr/>
          <p:nvPr/>
        </p:nvSpPr>
        <p:spPr>
          <a:xfrm>
            <a:off x="731520" y="4983480"/>
            <a:ext cx="10725912" cy="0"/>
          </a:xfrm>
          <a:prstGeom prst="line">
            <a:avLst/>
          </a:prstGeom>
          <a:noFill/>
          <a:ln w="6350">
            <a:solidFill>
              <a:srgbClr val="E4D2F8"/>
            </a:solidFill>
            <a:prstDash val="solid"/>
          </a:ln>
        </p:spPr>
      </p:sp>
      <p:sp>
        <p:nvSpPr>
          <p:cNvPr id="27" name="Text 25"/>
          <p:cNvSpPr/>
          <p:nvPr/>
        </p:nvSpPr>
        <p:spPr>
          <a:xfrm>
            <a:off x="2926080" y="4343400"/>
            <a:ext cx="8439912" cy="594360"/>
          </a:xfrm>
          <a:prstGeom prst="rect">
            <a:avLst/>
          </a:prstGeom>
          <a:noFill/>
          <a:ln/>
        </p:spPr>
        <p:txBody>
          <a:bodyPr wrap="square" rtlCol="0" anchor="ctr"/>
          <a:lstStyle/>
          <a:p>
            <a:pPr indent="0" marL="0">
              <a:lnSpc>
                <a:spcPct val="120000"/>
              </a:lnSpc>
              <a:buNone/>
            </a:pPr>
            <a:r>
              <a:rPr lang="en-US" sz="1000" dirty="0">
                <a:solidFill>
                  <a:srgbClr val="5C4A3A"/>
                </a:solidFill>
                <a:latin typeface="Inter" pitchFamily="34" charset="0"/>
                <a:ea typeface="Inter" pitchFamily="34" charset="-122"/>
                <a:cs typeface="Inter" pitchFamily="34" charset="-120"/>
              </a:rPr>
              <a:t>Physical activity is vital—not competitive sport, but purposeful work that engages the body: farming, building, maintaining the environment.</a:t>
            </a:r>
            <a:endParaRPr lang="en-US" sz="1000" dirty="0"/>
          </a:p>
        </p:txBody>
      </p:sp>
      <p:sp>
        <p:nvSpPr>
          <p:cNvPr id="28" name="Shape 26"/>
          <p:cNvSpPr/>
          <p:nvPr/>
        </p:nvSpPr>
        <p:spPr>
          <a:xfrm>
            <a:off x="731520" y="4983480"/>
            <a:ext cx="2011680" cy="685800"/>
          </a:xfrm>
          <a:prstGeom prst="rect">
            <a:avLst/>
          </a:prstGeom>
          <a:solidFill>
            <a:srgbClr val="F3EBFC"/>
          </a:solidFill>
          <a:ln/>
        </p:spPr>
      </p:sp>
      <p:sp>
        <p:nvSpPr>
          <p:cNvPr id="29" name="Text 27"/>
          <p:cNvSpPr/>
          <p:nvPr/>
        </p:nvSpPr>
        <p:spPr>
          <a:xfrm>
            <a:off x="868680" y="4983480"/>
            <a:ext cx="1737360" cy="685800"/>
          </a:xfrm>
          <a:prstGeom prst="rect">
            <a:avLst/>
          </a:prstGeom>
          <a:noFill/>
          <a:ln/>
        </p:spPr>
        <p:txBody>
          <a:bodyPr wrap="square" rtlCol="0" anchor="ctr"/>
          <a:lstStyle/>
          <a:p>
            <a:pPr indent="0" marL="0">
              <a:buNone/>
            </a:pPr>
            <a:r>
              <a:rPr lang="en-US" sz="1200" dirty="0">
                <a:solidFill>
                  <a:srgbClr val="3F265B"/>
                </a:solidFill>
                <a:latin typeface="Lora" pitchFamily="34" charset="0"/>
                <a:ea typeface="Lora" pitchFamily="34" charset="-122"/>
                <a:cs typeface="Lora" pitchFamily="34" charset="-120"/>
              </a:rPr>
              <a:t>Illness</a:t>
            </a:r>
            <a:endParaRPr lang="en-US" sz="1200" dirty="0"/>
          </a:p>
        </p:txBody>
      </p:sp>
      <p:sp>
        <p:nvSpPr>
          <p:cNvPr id="30" name="Shape 28"/>
          <p:cNvSpPr/>
          <p:nvPr/>
        </p:nvSpPr>
        <p:spPr>
          <a:xfrm>
            <a:off x="731520" y="5669280"/>
            <a:ext cx="10725912" cy="0"/>
          </a:xfrm>
          <a:prstGeom prst="line">
            <a:avLst/>
          </a:prstGeom>
          <a:noFill/>
          <a:ln w="6350">
            <a:solidFill>
              <a:srgbClr val="E4D2F8"/>
            </a:solidFill>
            <a:prstDash val="solid"/>
          </a:ln>
        </p:spPr>
      </p:sp>
      <p:sp>
        <p:nvSpPr>
          <p:cNvPr id="31" name="Text 29"/>
          <p:cNvSpPr/>
          <p:nvPr/>
        </p:nvSpPr>
        <p:spPr>
          <a:xfrm>
            <a:off x="2926080" y="5029200"/>
            <a:ext cx="8439912" cy="594360"/>
          </a:xfrm>
          <a:prstGeom prst="rect">
            <a:avLst/>
          </a:prstGeom>
          <a:noFill/>
          <a:ln/>
        </p:spPr>
        <p:txBody>
          <a:bodyPr wrap="square" rtlCol="0" anchor="ctr"/>
          <a:lstStyle/>
          <a:p>
            <a:pPr indent="0" marL="0">
              <a:lnSpc>
                <a:spcPct val="120000"/>
              </a:lnSpc>
              <a:buNone/>
            </a:pPr>
            <a:r>
              <a:rPr lang="en-US" sz="1000" dirty="0">
                <a:solidFill>
                  <a:srgbClr val="5C4A3A"/>
                </a:solidFill>
                <a:latin typeface="Inter" pitchFamily="34" charset="0"/>
                <a:ea typeface="Inter" pitchFamily="34" charset="-122"/>
                <a:cs typeface="Inter" pitchFamily="34" charset="-120"/>
              </a:rPr>
              <a:t>Adolescents are more susceptible to illness during this period. The immune system is under strain from rapid growth. Rest, nutrition, and time outdoors help support resilience.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731520" y="6446520"/>
            <a:ext cx="2743200" cy="274320"/>
          </a:xfrm>
          <a:prstGeom prst="rect">
            <a:avLst/>
          </a:prstGeom>
          <a:noFill/>
          <a:ln/>
        </p:spPr>
        <p:txBody>
          <a:bodyPr wrap="square" rtlCol="0" anchor="ctr"/>
          <a:lstStyle/>
          <a:p>
            <a:pPr indent="0" marL="0">
              <a:buNone/>
            </a:pPr>
            <a:r>
              <a:rPr lang="en-US" sz="800" dirty="0">
                <a:solidFill>
                  <a:srgbClr val="C4A94D"/>
                </a:solidFill>
                <a:latin typeface="Inter" pitchFamily="34" charset="0"/>
                <a:ea typeface="Inter" pitchFamily="34" charset="-122"/>
                <a:cs typeface="Inter" pitchFamily="34" charset="-120"/>
              </a:rPr>
              <a:t>montessoriforadolescents.com</a:t>
            </a:r>
            <a:endParaRPr lang="en-US" sz="800" dirty="0"/>
          </a:p>
        </p:txBody>
      </p:sp>
      <p:sp>
        <p:nvSpPr>
          <p:cNvPr id="3" name="Text 1"/>
          <p:cNvSpPr/>
          <p:nvPr/>
        </p:nvSpPr>
        <p:spPr>
          <a:xfrm>
            <a:off x="731520" y="365760"/>
            <a:ext cx="10725912" cy="502920"/>
          </a:xfrm>
          <a:prstGeom prst="rect">
            <a:avLst/>
          </a:prstGeom>
          <a:noFill/>
          <a:ln/>
        </p:spPr>
        <p:txBody>
          <a:bodyPr wrap="square" rtlCol="0" anchor="ctr"/>
          <a:lstStyle/>
          <a:p>
            <a:pPr indent="0" marL="0">
              <a:buNone/>
            </a:pPr>
            <a:r>
              <a:rPr lang="en-US" sz="2400" b="1" dirty="0">
                <a:solidFill>
                  <a:srgbClr val="3F265B"/>
                </a:solidFill>
                <a:latin typeface="Lora" pitchFamily="34" charset="0"/>
                <a:ea typeface="Lora" pitchFamily="34" charset="-122"/>
                <a:cs typeface="Lora" pitchFamily="34" charset="-120"/>
              </a:rPr>
              <a:t>Psychological Characteristics</a:t>
            </a:r>
            <a:endParaRPr lang="en-US" sz="2400" dirty="0"/>
          </a:p>
        </p:txBody>
      </p:sp>
      <p:sp>
        <p:nvSpPr>
          <p:cNvPr id="4" name="Shape 2"/>
          <p:cNvSpPr/>
          <p:nvPr/>
        </p:nvSpPr>
        <p:spPr>
          <a:xfrm>
            <a:off x="731520" y="822960"/>
            <a:ext cx="10725912" cy="0"/>
          </a:xfrm>
          <a:prstGeom prst="line">
            <a:avLst/>
          </a:prstGeom>
          <a:noFill/>
          <a:ln w="19050">
            <a:solidFill>
              <a:srgbClr val="C4A94D"/>
            </a:solidFill>
            <a:prstDash val="solid"/>
          </a:ln>
        </p:spPr>
      </p:sp>
      <p:sp>
        <p:nvSpPr>
          <p:cNvPr id="5" name="Text 3"/>
          <p:cNvSpPr/>
          <p:nvPr/>
        </p:nvSpPr>
        <p:spPr>
          <a:xfrm>
            <a:off x="731520" y="960120"/>
            <a:ext cx="10725912" cy="502920"/>
          </a:xfrm>
          <a:prstGeom prst="rect">
            <a:avLst/>
          </a:prstGeom>
          <a:noFill/>
          <a:ln/>
        </p:spPr>
        <p:txBody>
          <a:bodyPr wrap="square" rtlCol="0" anchor="t"/>
          <a:lstStyle/>
          <a:p>
            <a:pPr indent="0" marL="0">
              <a:lnSpc>
                <a:spcPct val="130000"/>
              </a:lnSpc>
              <a:buNone/>
            </a:pPr>
            <a:r>
              <a:rPr lang="en-US" sz="1100" dirty="0">
                <a:solidFill>
                  <a:srgbClr val="5C4A3A"/>
                </a:solidFill>
                <a:latin typeface="Inter" pitchFamily="34" charset="0"/>
                <a:ea typeface="Inter" pitchFamily="34" charset="-122"/>
                <a:cs typeface="Inter" pitchFamily="34" charset="-120"/>
              </a:rPr>
              <a:t>The psychological landscape of the adolescent is complex and often misunderstood. The dramatic physical changes of this period have equally dramatic psychological effects. This is not a time of intellectual expansion—it is a time of inner construction.</a:t>
            </a:r>
            <a:endParaRPr lang="en-US" sz="1100" dirty="0"/>
          </a:p>
        </p:txBody>
      </p:sp>
      <p:sp>
        <p:nvSpPr>
          <p:cNvPr id="6" name="Text 4"/>
          <p:cNvSpPr/>
          <p:nvPr/>
        </p:nvSpPr>
        <p:spPr>
          <a:xfrm>
            <a:off x="731520" y="1417320"/>
            <a:ext cx="10725912" cy="320040"/>
          </a:xfrm>
          <a:prstGeom prst="rect">
            <a:avLst/>
          </a:prstGeom>
          <a:noFill/>
          <a:ln/>
        </p:spPr>
        <p:txBody>
          <a:bodyPr wrap="square" rtlCol="0" anchor="ctr"/>
          <a:lstStyle/>
          <a:p>
            <a:pPr indent="0" marL="0">
              <a:buNone/>
            </a:pPr>
            <a:r>
              <a:rPr lang="en-US" sz="1500" b="1" dirty="0">
                <a:solidFill>
                  <a:srgbClr val="3F265B"/>
                </a:solidFill>
                <a:latin typeface="Lora" pitchFamily="34" charset="0"/>
                <a:ea typeface="Lora" pitchFamily="34" charset="-122"/>
                <a:cs typeface="Lora" pitchFamily="34" charset="-120"/>
              </a:rPr>
              <a:t>Emotional Life</a:t>
            </a:r>
            <a:endParaRPr lang="en-US" sz="1500" dirty="0"/>
          </a:p>
        </p:txBody>
      </p:sp>
      <p:sp>
        <p:nvSpPr>
          <p:cNvPr id="7" name="Text 5"/>
          <p:cNvSpPr/>
          <p:nvPr/>
        </p:nvSpPr>
        <p:spPr>
          <a:xfrm>
            <a:off x="914400" y="1691640"/>
            <a:ext cx="10360152" cy="1051560"/>
          </a:xfrm>
          <a:prstGeom prst="rect">
            <a:avLst/>
          </a:prstGeom>
          <a:noFill/>
          <a:ln/>
        </p:spPr>
        <p:txBody>
          <a:bodyPr wrap="square" rtlCol="0" anchor="t"/>
          <a:lstStyle/>
          <a:p>
            <a:pPr marL="342900" indent="-342900">
              <a:lnSpc>
                <a:spcPct val="125000"/>
              </a:lnSpc>
              <a:buSzPct val="100000"/>
              <a:buChar char="•"/>
            </a:pPr>
            <a:r>
              <a:rPr lang="en-US" sz="1000" dirty="0">
                <a:solidFill>
                  <a:srgbClr val="5C4A3A"/>
                </a:solidFill>
                <a:latin typeface="Inter" pitchFamily="34" charset="0"/>
                <a:ea typeface="Inter" pitchFamily="34" charset="-122"/>
                <a:cs typeface="Inter" pitchFamily="34" charset="-120"/>
              </a:rPr>
              <a:t>Doubts and hesitations: The adolescent questions everything—themselves, their abilities, their place in the world.</a:t>
            </a:r>
            <a:endParaRPr lang="en-US" sz="1000" dirty="0"/>
          </a:p>
          <a:p>
            <a:pPr marL="342900" indent="-342900">
              <a:lnSpc>
                <a:spcPct val="125000"/>
              </a:lnSpc>
              <a:buSzPct val="100000"/>
              <a:buChar char="•"/>
            </a:pPr>
            <a:r>
              <a:rPr lang="en-US" sz="1000" dirty="0">
                <a:solidFill>
                  <a:srgbClr val="5C4A3A"/>
                </a:solidFill>
                <a:latin typeface="Inter" pitchFamily="34" charset="0"/>
                <a:ea typeface="Inter" pitchFamily="34" charset="-122"/>
                <a:cs typeface="Inter" pitchFamily="34" charset="-120"/>
              </a:rPr>
              <a:t>Violent emotions: Feelings are intense and shift rapidly. Joy, despair, anger, and tenderness coexist.</a:t>
            </a:r>
            <a:endParaRPr lang="en-US" sz="1000" dirty="0"/>
          </a:p>
          <a:p>
            <a:pPr marL="342900" indent="-342900">
              <a:lnSpc>
                <a:spcPct val="125000"/>
              </a:lnSpc>
              <a:buSzPct val="100000"/>
              <a:buChar char="•"/>
            </a:pPr>
            <a:r>
              <a:rPr lang="en-US" sz="1000" dirty="0">
                <a:solidFill>
                  <a:srgbClr val="5C4A3A"/>
                </a:solidFill>
                <a:latin typeface="Inter" pitchFamily="34" charset="0"/>
                <a:ea typeface="Inter" pitchFamily="34" charset="-122"/>
                <a:cs typeface="Inter" pitchFamily="34" charset="-120"/>
              </a:rPr>
              <a:t>Impulsivity combined with shyness: Bold one moment, self-conscious the next.</a:t>
            </a:r>
            <a:endParaRPr lang="en-US" sz="1000" dirty="0"/>
          </a:p>
          <a:p>
            <a:pPr marL="342900" indent="-342900">
              <a:lnSpc>
                <a:spcPct val="125000"/>
              </a:lnSpc>
              <a:buSzPct val="100000"/>
              <a:buChar char="•"/>
            </a:pPr>
            <a:r>
              <a:rPr lang="en-US" sz="1000" dirty="0">
                <a:solidFill>
                  <a:srgbClr val="5C4A3A"/>
                </a:solidFill>
                <a:latin typeface="Inter" pitchFamily="34" charset="0"/>
                <a:ea typeface="Inter" pitchFamily="34" charset="-122"/>
                <a:cs typeface="Inter" pitchFamily="34" charset="-120"/>
              </a:rPr>
              <a:t>Period of contemplation: A deep need for solitude, reflection, and time to process inner experience.</a:t>
            </a:r>
            <a:endParaRPr lang="en-US" sz="1000" dirty="0"/>
          </a:p>
        </p:txBody>
      </p:sp>
      <p:sp>
        <p:nvSpPr>
          <p:cNvPr id="8" name="Text 6"/>
          <p:cNvSpPr/>
          <p:nvPr/>
        </p:nvSpPr>
        <p:spPr>
          <a:xfrm>
            <a:off x="731520" y="2788920"/>
            <a:ext cx="10725912" cy="320040"/>
          </a:xfrm>
          <a:prstGeom prst="rect">
            <a:avLst/>
          </a:prstGeom>
          <a:noFill/>
          <a:ln/>
        </p:spPr>
        <p:txBody>
          <a:bodyPr wrap="square" rtlCol="0" anchor="ctr"/>
          <a:lstStyle/>
          <a:p>
            <a:pPr indent="0" marL="0">
              <a:buNone/>
            </a:pPr>
            <a:r>
              <a:rPr lang="en-US" sz="1500" b="1" dirty="0">
                <a:solidFill>
                  <a:srgbClr val="3F265B"/>
                </a:solidFill>
                <a:latin typeface="Lora" pitchFamily="34" charset="0"/>
                <a:ea typeface="Lora" pitchFamily="34" charset="-122"/>
                <a:cs typeface="Lora" pitchFamily="34" charset="-120"/>
              </a:rPr>
              <a:t>Intellectual Life</a:t>
            </a:r>
            <a:endParaRPr lang="en-US" sz="1500" dirty="0"/>
          </a:p>
        </p:txBody>
      </p:sp>
      <p:sp>
        <p:nvSpPr>
          <p:cNvPr id="9" name="Text 7"/>
          <p:cNvSpPr/>
          <p:nvPr/>
        </p:nvSpPr>
        <p:spPr>
          <a:xfrm>
            <a:off x="731520" y="3063240"/>
            <a:ext cx="10725912" cy="548640"/>
          </a:xfrm>
          <a:prstGeom prst="rect">
            <a:avLst/>
          </a:prstGeom>
          <a:noFill/>
          <a:ln/>
        </p:spPr>
        <p:txBody>
          <a:bodyPr wrap="square" rtlCol="0" anchor="t"/>
          <a:lstStyle/>
          <a:p>
            <a:pPr indent="0" marL="0">
              <a:lnSpc>
                <a:spcPct val="130000"/>
              </a:lnSpc>
              <a:buNone/>
            </a:pPr>
            <a:r>
              <a:rPr lang="en-US" sz="1100" dirty="0">
                <a:solidFill>
                  <a:srgbClr val="5C4A3A"/>
                </a:solidFill>
                <a:latin typeface="Inter" pitchFamily="34" charset="0"/>
                <a:ea typeface="Inter" pitchFamily="34" charset="-122"/>
                <a:cs typeface="Inter" pitchFamily="34" charset="-120"/>
              </a:rPr>
              <a:t>There is often an apparent decrease in intellectual capacity during early adolescence. This is not a decline in intelligence but a redirection of energy—the body's enormous growth demands so much that less is available for abstract thinking. This is why Montessori advocated for practical, hands-on learning during this period.</a:t>
            </a:r>
            <a:endParaRPr lang="en-US" sz="1100" dirty="0"/>
          </a:p>
        </p:txBody>
      </p:sp>
      <p:sp>
        <p:nvSpPr>
          <p:cNvPr id="10" name="Text 8"/>
          <p:cNvSpPr/>
          <p:nvPr/>
        </p:nvSpPr>
        <p:spPr>
          <a:xfrm>
            <a:off x="731520" y="3657600"/>
            <a:ext cx="10725912" cy="320040"/>
          </a:xfrm>
          <a:prstGeom prst="rect">
            <a:avLst/>
          </a:prstGeom>
          <a:noFill/>
          <a:ln/>
        </p:spPr>
        <p:txBody>
          <a:bodyPr wrap="square" rtlCol="0" anchor="ctr"/>
          <a:lstStyle/>
          <a:p>
            <a:pPr indent="0" marL="0">
              <a:buNone/>
            </a:pPr>
            <a:r>
              <a:rPr lang="en-US" sz="1500" b="1" dirty="0">
                <a:solidFill>
                  <a:srgbClr val="3F265B"/>
                </a:solidFill>
                <a:latin typeface="Lora" pitchFamily="34" charset="0"/>
                <a:ea typeface="Lora" pitchFamily="34" charset="-122"/>
                <a:cs typeface="Lora" pitchFamily="34" charset="-120"/>
              </a:rPr>
              <a:t>Core Sensitivities</a:t>
            </a:r>
            <a:endParaRPr lang="en-US" sz="1500" dirty="0"/>
          </a:p>
        </p:txBody>
      </p:sp>
      <p:sp>
        <p:nvSpPr>
          <p:cNvPr id="11" name="Shape 9"/>
          <p:cNvSpPr/>
          <p:nvPr/>
        </p:nvSpPr>
        <p:spPr>
          <a:xfrm>
            <a:off x="731520" y="3931920"/>
            <a:ext cx="5317236" cy="1051560"/>
          </a:xfrm>
          <a:prstGeom prst="rect">
            <a:avLst>
              <a:gd name="adj" fmla="val 4348"/>
            </a:avLst>
          </a:prstGeom>
          <a:solidFill>
            <a:srgbClr val="F3EBFC"/>
          </a:solidFill>
          <a:ln/>
        </p:spPr>
      </p:sp>
      <p:sp>
        <p:nvSpPr>
          <p:cNvPr id="12" name="Text 10"/>
          <p:cNvSpPr/>
          <p:nvPr/>
        </p:nvSpPr>
        <p:spPr>
          <a:xfrm>
            <a:off x="868680" y="4005072"/>
            <a:ext cx="5042916" cy="274320"/>
          </a:xfrm>
          <a:prstGeom prst="rect">
            <a:avLst/>
          </a:prstGeom>
          <a:noFill/>
          <a:ln/>
        </p:spPr>
        <p:txBody>
          <a:bodyPr wrap="square" rtlCol="0" anchor="t"/>
          <a:lstStyle/>
          <a:p>
            <a:pPr indent="0" marL="0">
              <a:buNone/>
            </a:pPr>
            <a:r>
              <a:rPr lang="en-US" sz="1300" b="1" dirty="0">
                <a:solidFill>
                  <a:srgbClr val="3F265B"/>
                </a:solidFill>
                <a:latin typeface="Lora" pitchFamily="34" charset="0"/>
                <a:ea typeface="Lora" pitchFamily="34" charset="-122"/>
                <a:cs typeface="Lora" pitchFamily="34" charset="-120"/>
              </a:rPr>
              <a:t>Personal Dignity</a:t>
            </a:r>
            <a:endParaRPr lang="en-US" sz="1300" dirty="0"/>
          </a:p>
        </p:txBody>
      </p:sp>
      <p:sp>
        <p:nvSpPr>
          <p:cNvPr id="13" name="Text 11"/>
          <p:cNvSpPr/>
          <p:nvPr/>
        </p:nvSpPr>
        <p:spPr>
          <a:xfrm>
            <a:off x="868680" y="4251960"/>
            <a:ext cx="5042916" cy="640080"/>
          </a:xfrm>
          <a:prstGeom prst="rect">
            <a:avLst/>
          </a:prstGeom>
          <a:noFill/>
          <a:ln/>
        </p:spPr>
        <p:txBody>
          <a:bodyPr wrap="square" rtlCol="0" anchor="t"/>
          <a:lstStyle/>
          <a:p>
            <a:pPr indent="0" marL="0">
              <a:lnSpc>
                <a:spcPct val="130000"/>
              </a:lnSpc>
              <a:buNone/>
            </a:pPr>
            <a:r>
              <a:rPr lang="en-US" sz="1000" dirty="0">
                <a:solidFill>
                  <a:srgbClr val="5C4A3A"/>
                </a:solidFill>
                <a:latin typeface="Inter" pitchFamily="34" charset="0"/>
                <a:ea typeface="Inter" pitchFamily="34" charset="-122"/>
                <a:cs typeface="Inter" pitchFamily="34" charset="-120"/>
              </a:rPr>
              <a:t>The adolescent is acutely sensitive to how they are perceived and treated. Criticism and being treated as a child wound deeply. They need to be respected as emerging adults—their opinions heard and their competence acknowledged.</a:t>
            </a:r>
            <a:endParaRPr lang="en-US" sz="1000" dirty="0"/>
          </a:p>
        </p:txBody>
      </p:sp>
      <p:sp>
        <p:nvSpPr>
          <p:cNvPr id="14" name="Shape 12"/>
          <p:cNvSpPr/>
          <p:nvPr/>
        </p:nvSpPr>
        <p:spPr>
          <a:xfrm>
            <a:off x="6140196" y="3931920"/>
            <a:ext cx="5317236" cy="1051560"/>
          </a:xfrm>
          <a:prstGeom prst="rect">
            <a:avLst>
              <a:gd name="adj" fmla="val 4348"/>
            </a:avLst>
          </a:prstGeom>
          <a:solidFill>
            <a:srgbClr val="F3EBFC"/>
          </a:solidFill>
          <a:ln/>
        </p:spPr>
      </p:sp>
      <p:sp>
        <p:nvSpPr>
          <p:cNvPr id="15" name="Text 13"/>
          <p:cNvSpPr/>
          <p:nvPr/>
        </p:nvSpPr>
        <p:spPr>
          <a:xfrm>
            <a:off x="6277356" y="4005072"/>
            <a:ext cx="5042916" cy="274320"/>
          </a:xfrm>
          <a:prstGeom prst="rect">
            <a:avLst/>
          </a:prstGeom>
          <a:noFill/>
          <a:ln/>
        </p:spPr>
        <p:txBody>
          <a:bodyPr wrap="square" rtlCol="0" anchor="t"/>
          <a:lstStyle/>
          <a:p>
            <a:pPr indent="0" marL="0">
              <a:buNone/>
            </a:pPr>
            <a:r>
              <a:rPr lang="en-US" sz="1300" b="1" dirty="0">
                <a:solidFill>
                  <a:srgbClr val="3F265B"/>
                </a:solidFill>
                <a:latin typeface="Lora" pitchFamily="34" charset="0"/>
                <a:ea typeface="Lora" pitchFamily="34" charset="-122"/>
                <a:cs typeface="Lora" pitchFamily="34" charset="-120"/>
              </a:rPr>
              <a:t>Justice</a:t>
            </a:r>
            <a:endParaRPr lang="en-US" sz="1300" dirty="0"/>
          </a:p>
        </p:txBody>
      </p:sp>
      <p:sp>
        <p:nvSpPr>
          <p:cNvPr id="16" name="Text 14"/>
          <p:cNvSpPr/>
          <p:nvPr/>
        </p:nvSpPr>
        <p:spPr>
          <a:xfrm>
            <a:off x="6277356" y="4251960"/>
            <a:ext cx="5042916" cy="640080"/>
          </a:xfrm>
          <a:prstGeom prst="rect">
            <a:avLst/>
          </a:prstGeom>
          <a:noFill/>
          <a:ln/>
        </p:spPr>
        <p:txBody>
          <a:bodyPr wrap="square" rtlCol="0" anchor="t"/>
          <a:lstStyle/>
          <a:p>
            <a:pPr indent="0" marL="0">
              <a:lnSpc>
                <a:spcPct val="130000"/>
              </a:lnSpc>
              <a:buNone/>
            </a:pPr>
            <a:r>
              <a:rPr lang="en-US" sz="1000" dirty="0">
                <a:solidFill>
                  <a:srgbClr val="5C4A3A"/>
                </a:solidFill>
                <a:latin typeface="Inter" pitchFamily="34" charset="0"/>
                <a:ea typeface="Inter" pitchFamily="34" charset="-122"/>
                <a:cs typeface="Inter" pitchFamily="34" charset="-120"/>
              </a:rPr>
              <a:t>Adolescents develop a powerful sense of right and wrong. They are deeply concerned with fairness—both for themselves and for others. This extends to social justice, environmental concerns, and moral questions about society.</a:t>
            </a:r>
            <a:endParaRPr lang="en-US" sz="1000" dirty="0"/>
          </a:p>
        </p:txBody>
      </p:sp>
      <p:sp>
        <p:nvSpPr>
          <p:cNvPr id="17" name="Text 15"/>
          <p:cNvSpPr/>
          <p:nvPr/>
        </p:nvSpPr>
        <p:spPr>
          <a:xfrm>
            <a:off x="731520" y="5120640"/>
            <a:ext cx="10725912" cy="320040"/>
          </a:xfrm>
          <a:prstGeom prst="rect">
            <a:avLst/>
          </a:prstGeom>
          <a:noFill/>
          <a:ln/>
        </p:spPr>
        <p:txBody>
          <a:bodyPr wrap="square" rtlCol="0" anchor="ctr"/>
          <a:lstStyle/>
          <a:p>
            <a:pPr indent="0" marL="0">
              <a:buNone/>
            </a:pPr>
            <a:r>
              <a:rPr lang="en-US" sz="1500" b="1" dirty="0">
                <a:solidFill>
                  <a:srgbClr val="3F265B"/>
                </a:solidFill>
                <a:latin typeface="Lora" pitchFamily="34" charset="0"/>
                <a:ea typeface="Lora" pitchFamily="34" charset="-122"/>
                <a:cs typeface="Lora" pitchFamily="34" charset="-120"/>
              </a:rPr>
              <a:t>Imagining the Future</a:t>
            </a:r>
            <a:endParaRPr lang="en-US" sz="1500" dirty="0"/>
          </a:p>
        </p:txBody>
      </p:sp>
      <p:sp>
        <p:nvSpPr>
          <p:cNvPr id="18" name="Text 16"/>
          <p:cNvSpPr/>
          <p:nvPr/>
        </p:nvSpPr>
        <p:spPr>
          <a:xfrm>
            <a:off x="731520" y="5394960"/>
            <a:ext cx="10725912" cy="640080"/>
          </a:xfrm>
          <a:prstGeom prst="rect">
            <a:avLst/>
          </a:prstGeom>
          <a:noFill/>
          <a:ln/>
        </p:spPr>
        <p:txBody>
          <a:bodyPr wrap="square" rtlCol="0" anchor="t"/>
          <a:lstStyle/>
          <a:p>
            <a:pPr indent="0" marL="0">
              <a:lnSpc>
                <a:spcPct val="130000"/>
              </a:lnSpc>
              <a:buNone/>
            </a:pPr>
            <a:r>
              <a:rPr lang="en-US" sz="1100" dirty="0">
                <a:solidFill>
                  <a:srgbClr val="5C4A3A"/>
                </a:solidFill>
                <a:latin typeface="Inter" pitchFamily="34" charset="0"/>
                <a:ea typeface="Inter" pitchFamily="34" charset="-122"/>
                <a:cs typeface="Inter" pitchFamily="34" charset="-120"/>
              </a:rPr>
              <a:t>The adolescent begins to imagine their future self and their place in the adult world. They wonder: Who will I become? What is my value? How will I contribute? These questions are essential psychological work—the adolescent is constructing a vision of their future that will guide their choices and development.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731520" y="6446520"/>
            <a:ext cx="2743200" cy="274320"/>
          </a:xfrm>
          <a:prstGeom prst="rect">
            <a:avLst/>
          </a:prstGeom>
          <a:noFill/>
          <a:ln/>
        </p:spPr>
        <p:txBody>
          <a:bodyPr wrap="square" rtlCol="0" anchor="ctr"/>
          <a:lstStyle/>
          <a:p>
            <a:pPr indent="0" marL="0">
              <a:buNone/>
            </a:pPr>
            <a:r>
              <a:rPr lang="en-US" sz="800" dirty="0">
                <a:solidFill>
                  <a:srgbClr val="C4A94D"/>
                </a:solidFill>
                <a:latin typeface="Inter" pitchFamily="34" charset="0"/>
                <a:ea typeface="Inter" pitchFamily="34" charset="-122"/>
                <a:cs typeface="Inter" pitchFamily="34" charset="-120"/>
              </a:rPr>
              <a:t>montessoriforadolescents.com</a:t>
            </a:r>
            <a:endParaRPr lang="en-US" sz="800" dirty="0"/>
          </a:p>
        </p:txBody>
      </p:sp>
      <p:sp>
        <p:nvSpPr>
          <p:cNvPr id="3" name="Text 1"/>
          <p:cNvSpPr/>
          <p:nvPr/>
        </p:nvSpPr>
        <p:spPr>
          <a:xfrm>
            <a:off x="731520" y="365760"/>
            <a:ext cx="10725912" cy="502920"/>
          </a:xfrm>
          <a:prstGeom prst="rect">
            <a:avLst/>
          </a:prstGeom>
          <a:noFill/>
          <a:ln/>
        </p:spPr>
        <p:txBody>
          <a:bodyPr wrap="square" rtlCol="0" anchor="ctr"/>
          <a:lstStyle/>
          <a:p>
            <a:pPr indent="0" marL="0">
              <a:buNone/>
            </a:pPr>
            <a:r>
              <a:rPr lang="en-US" sz="2400" b="1" dirty="0">
                <a:solidFill>
                  <a:srgbClr val="3F265B"/>
                </a:solidFill>
                <a:latin typeface="Lora" pitchFamily="34" charset="0"/>
                <a:ea typeface="Lora" pitchFamily="34" charset="-122"/>
                <a:cs typeface="Lora" pitchFamily="34" charset="-120"/>
              </a:rPr>
              <a:t>Social Characteristics</a:t>
            </a:r>
            <a:endParaRPr lang="en-US" sz="2400" dirty="0"/>
          </a:p>
        </p:txBody>
      </p:sp>
      <p:sp>
        <p:nvSpPr>
          <p:cNvPr id="4" name="Shape 2"/>
          <p:cNvSpPr/>
          <p:nvPr/>
        </p:nvSpPr>
        <p:spPr>
          <a:xfrm>
            <a:off x="731520" y="822960"/>
            <a:ext cx="10725912" cy="0"/>
          </a:xfrm>
          <a:prstGeom prst="line">
            <a:avLst/>
          </a:prstGeom>
          <a:noFill/>
          <a:ln w="19050">
            <a:solidFill>
              <a:srgbClr val="C4A94D"/>
            </a:solidFill>
            <a:prstDash val="solid"/>
          </a:ln>
        </p:spPr>
      </p:sp>
      <p:sp>
        <p:nvSpPr>
          <p:cNvPr id="5" name="Text 3"/>
          <p:cNvSpPr/>
          <p:nvPr/>
        </p:nvSpPr>
        <p:spPr>
          <a:xfrm>
            <a:off x="731520" y="960120"/>
            <a:ext cx="10725912" cy="411480"/>
          </a:xfrm>
          <a:prstGeom prst="rect">
            <a:avLst/>
          </a:prstGeom>
          <a:noFill/>
          <a:ln/>
        </p:spPr>
        <p:txBody>
          <a:bodyPr wrap="square" rtlCol="0" anchor="t"/>
          <a:lstStyle/>
          <a:p>
            <a:pPr indent="0" marL="0">
              <a:lnSpc>
                <a:spcPct val="130000"/>
              </a:lnSpc>
              <a:buNone/>
            </a:pPr>
            <a:r>
              <a:rPr lang="en-US" sz="1100" dirty="0">
                <a:solidFill>
                  <a:srgbClr val="5C4A3A"/>
                </a:solidFill>
                <a:latin typeface="Inter" pitchFamily="34" charset="0"/>
                <a:ea typeface="Inter" pitchFamily="34" charset="-122"/>
                <a:cs typeface="Inter" pitchFamily="34" charset="-120"/>
              </a:rPr>
              <a:t>The Third Plane is fundamentally a social period. Montessori described the adolescent as a "newborn social being"—someone who is leaving the shelter of the family and stepping into the wider world of society.</a:t>
            </a:r>
            <a:endParaRPr lang="en-US" sz="1100" dirty="0"/>
          </a:p>
        </p:txBody>
      </p:sp>
      <p:sp>
        <p:nvSpPr>
          <p:cNvPr id="6" name="Text 4"/>
          <p:cNvSpPr/>
          <p:nvPr/>
        </p:nvSpPr>
        <p:spPr>
          <a:xfrm>
            <a:off x="731520" y="1371600"/>
            <a:ext cx="10725912" cy="320040"/>
          </a:xfrm>
          <a:prstGeom prst="rect">
            <a:avLst/>
          </a:prstGeom>
          <a:noFill/>
          <a:ln/>
        </p:spPr>
        <p:txBody>
          <a:bodyPr wrap="square" rtlCol="0" anchor="ctr"/>
          <a:lstStyle/>
          <a:p>
            <a:pPr indent="0" marL="0">
              <a:buNone/>
            </a:pPr>
            <a:r>
              <a:rPr lang="en-US" sz="1500" b="1" dirty="0">
                <a:solidFill>
                  <a:srgbClr val="3F265B"/>
                </a:solidFill>
                <a:latin typeface="Lora" pitchFamily="34" charset="0"/>
                <a:ea typeface="Lora" pitchFamily="34" charset="-122"/>
                <a:cs typeface="Lora" pitchFamily="34" charset="-120"/>
              </a:rPr>
              <a:t>From Family to Society</a:t>
            </a:r>
            <a:endParaRPr lang="en-US" sz="1500" dirty="0"/>
          </a:p>
        </p:txBody>
      </p:sp>
      <p:sp>
        <p:nvSpPr>
          <p:cNvPr id="7" name="Text 5"/>
          <p:cNvSpPr/>
          <p:nvPr/>
        </p:nvSpPr>
        <p:spPr>
          <a:xfrm>
            <a:off x="731520" y="1645920"/>
            <a:ext cx="10725912" cy="411480"/>
          </a:xfrm>
          <a:prstGeom prst="rect">
            <a:avLst/>
          </a:prstGeom>
          <a:noFill/>
          <a:ln/>
        </p:spPr>
        <p:txBody>
          <a:bodyPr wrap="square" rtlCol="0" anchor="t"/>
          <a:lstStyle/>
          <a:p>
            <a:pPr indent="0" marL="0">
              <a:lnSpc>
                <a:spcPct val="130000"/>
              </a:lnSpc>
              <a:buNone/>
            </a:pPr>
            <a:r>
              <a:rPr lang="en-US" sz="1100" dirty="0">
                <a:solidFill>
                  <a:srgbClr val="5C4A3A"/>
                </a:solidFill>
                <a:latin typeface="Inter" pitchFamily="34" charset="0"/>
                <a:ea typeface="Inter" pitchFamily="34" charset="-122"/>
                <a:cs typeface="Inter" pitchFamily="34" charset="-120"/>
              </a:rPr>
              <a:t>In the third plane, the adolescent's orientation shifts outward from family to peer groups, communities, and society at large. This is not rebellion—it is a developmental imperative to construct the social self.</a:t>
            </a:r>
            <a:endParaRPr lang="en-US" sz="1100" dirty="0"/>
          </a:p>
        </p:txBody>
      </p:sp>
      <p:sp>
        <p:nvSpPr>
          <p:cNvPr id="8" name="Text 6"/>
          <p:cNvSpPr/>
          <p:nvPr/>
        </p:nvSpPr>
        <p:spPr>
          <a:xfrm>
            <a:off x="731520" y="2103120"/>
            <a:ext cx="10725912" cy="320040"/>
          </a:xfrm>
          <a:prstGeom prst="rect">
            <a:avLst/>
          </a:prstGeom>
          <a:noFill/>
          <a:ln/>
        </p:spPr>
        <p:txBody>
          <a:bodyPr wrap="square" rtlCol="0" anchor="ctr"/>
          <a:lstStyle/>
          <a:p>
            <a:pPr indent="0" marL="0">
              <a:buNone/>
            </a:pPr>
            <a:r>
              <a:rPr lang="en-US" sz="1500" b="1" dirty="0">
                <a:solidFill>
                  <a:srgbClr val="3F265B"/>
                </a:solidFill>
                <a:latin typeface="Lora" pitchFamily="34" charset="0"/>
                <a:ea typeface="Lora" pitchFamily="34" charset="-122"/>
                <a:cs typeface="Lora" pitchFamily="34" charset="-120"/>
              </a:rPr>
              <a:t>Core Social Needs</a:t>
            </a:r>
            <a:endParaRPr lang="en-US" sz="1500" dirty="0"/>
          </a:p>
        </p:txBody>
      </p:sp>
      <p:sp>
        <p:nvSpPr>
          <p:cNvPr id="9" name="Shape 7"/>
          <p:cNvSpPr/>
          <p:nvPr/>
        </p:nvSpPr>
        <p:spPr>
          <a:xfrm>
            <a:off x="731520" y="2423160"/>
            <a:ext cx="10725912" cy="731520"/>
          </a:xfrm>
          <a:prstGeom prst="rect">
            <a:avLst/>
          </a:prstGeom>
          <a:solidFill>
            <a:srgbClr val="F3EBFC"/>
          </a:solidFill>
          <a:ln/>
        </p:spPr>
      </p:sp>
      <p:sp>
        <p:nvSpPr>
          <p:cNvPr id="10" name="Text 8"/>
          <p:cNvSpPr/>
          <p:nvPr/>
        </p:nvSpPr>
        <p:spPr>
          <a:xfrm>
            <a:off x="868680" y="2468880"/>
            <a:ext cx="10451592" cy="228600"/>
          </a:xfrm>
          <a:prstGeom prst="rect">
            <a:avLst/>
          </a:prstGeom>
          <a:noFill/>
          <a:ln/>
        </p:spPr>
        <p:txBody>
          <a:bodyPr wrap="square" rtlCol="0" anchor="ctr"/>
          <a:lstStyle/>
          <a:p>
            <a:pPr indent="0" marL="0">
              <a:buNone/>
            </a:pPr>
            <a:r>
              <a:rPr lang="en-US" sz="1200" b="1" dirty="0">
                <a:solidFill>
                  <a:srgbClr val="3F265B"/>
                </a:solidFill>
                <a:latin typeface="Lora" pitchFamily="34" charset="0"/>
                <a:ea typeface="Lora" pitchFamily="34" charset="-122"/>
                <a:cs typeface="Lora" pitchFamily="34" charset="-120"/>
              </a:rPr>
              <a:t>Social Belonging</a:t>
            </a:r>
            <a:endParaRPr lang="en-US" sz="1200" dirty="0"/>
          </a:p>
        </p:txBody>
      </p:sp>
      <p:sp>
        <p:nvSpPr>
          <p:cNvPr id="11" name="Text 9"/>
          <p:cNvSpPr/>
          <p:nvPr/>
        </p:nvSpPr>
        <p:spPr>
          <a:xfrm>
            <a:off x="868680" y="2697480"/>
            <a:ext cx="10451592" cy="411480"/>
          </a:xfrm>
          <a:prstGeom prst="rect">
            <a:avLst/>
          </a:prstGeom>
          <a:noFill/>
          <a:ln/>
        </p:spPr>
        <p:txBody>
          <a:bodyPr wrap="square" rtlCol="0" anchor="t"/>
          <a:lstStyle/>
          <a:p>
            <a:pPr indent="0" marL="0">
              <a:lnSpc>
                <a:spcPct val="120000"/>
              </a:lnSpc>
              <a:buNone/>
            </a:pPr>
            <a:r>
              <a:rPr lang="en-US" sz="1000" dirty="0">
                <a:solidFill>
                  <a:srgbClr val="5C4A3A"/>
                </a:solidFill>
                <a:latin typeface="Inter" pitchFamily="34" charset="0"/>
                <a:ea typeface="Inter" pitchFamily="34" charset="-122"/>
                <a:cs typeface="Inter" pitchFamily="34" charset="-120"/>
              </a:rPr>
              <a:t>The adolescent needs to feel accepted and valued by a group. Peer relationships become central as they learn to navigate social dynamics, resolve conflicts, and contribute to a community.</a:t>
            </a:r>
            <a:endParaRPr lang="en-US" sz="1000" dirty="0"/>
          </a:p>
        </p:txBody>
      </p:sp>
      <p:sp>
        <p:nvSpPr>
          <p:cNvPr id="12" name="Shape 10"/>
          <p:cNvSpPr/>
          <p:nvPr/>
        </p:nvSpPr>
        <p:spPr>
          <a:xfrm>
            <a:off x="731520" y="3154680"/>
            <a:ext cx="10725912" cy="0"/>
          </a:xfrm>
          <a:prstGeom prst="line">
            <a:avLst/>
          </a:prstGeom>
          <a:noFill/>
          <a:ln w="6350">
            <a:solidFill>
              <a:srgbClr val="E4D2F8"/>
            </a:solidFill>
            <a:prstDash val="solid"/>
          </a:ln>
        </p:spPr>
      </p:sp>
      <p:sp>
        <p:nvSpPr>
          <p:cNvPr id="13" name="Text 11"/>
          <p:cNvSpPr/>
          <p:nvPr/>
        </p:nvSpPr>
        <p:spPr>
          <a:xfrm>
            <a:off x="868680" y="3246120"/>
            <a:ext cx="10451592" cy="228600"/>
          </a:xfrm>
          <a:prstGeom prst="rect">
            <a:avLst/>
          </a:prstGeom>
          <a:noFill/>
          <a:ln/>
        </p:spPr>
        <p:txBody>
          <a:bodyPr wrap="square" rtlCol="0" anchor="ctr"/>
          <a:lstStyle/>
          <a:p>
            <a:pPr indent="0" marL="0">
              <a:buNone/>
            </a:pPr>
            <a:r>
              <a:rPr lang="en-US" sz="1200" b="1" dirty="0">
                <a:solidFill>
                  <a:srgbClr val="3F265B"/>
                </a:solidFill>
                <a:latin typeface="Lora" pitchFamily="34" charset="0"/>
                <a:ea typeface="Lora" pitchFamily="34" charset="-122"/>
                <a:cs typeface="Lora" pitchFamily="34" charset="-120"/>
              </a:rPr>
              <a:t>Moral Understanding</a:t>
            </a:r>
            <a:endParaRPr lang="en-US" sz="1200" dirty="0"/>
          </a:p>
        </p:txBody>
      </p:sp>
      <p:sp>
        <p:nvSpPr>
          <p:cNvPr id="14" name="Text 12"/>
          <p:cNvSpPr/>
          <p:nvPr/>
        </p:nvSpPr>
        <p:spPr>
          <a:xfrm>
            <a:off x="868680" y="3474720"/>
            <a:ext cx="10451592" cy="411480"/>
          </a:xfrm>
          <a:prstGeom prst="rect">
            <a:avLst/>
          </a:prstGeom>
          <a:noFill/>
          <a:ln/>
        </p:spPr>
        <p:txBody>
          <a:bodyPr wrap="square" rtlCol="0" anchor="t"/>
          <a:lstStyle/>
          <a:p>
            <a:pPr indent="0" marL="0">
              <a:lnSpc>
                <a:spcPct val="120000"/>
              </a:lnSpc>
              <a:buNone/>
            </a:pPr>
            <a:r>
              <a:rPr lang="en-US" sz="1000" dirty="0">
                <a:solidFill>
                  <a:srgbClr val="5C4A3A"/>
                </a:solidFill>
                <a:latin typeface="Inter" pitchFamily="34" charset="0"/>
                <a:ea typeface="Inter" pitchFamily="34" charset="-122"/>
                <a:cs typeface="Inter" pitchFamily="34" charset="-120"/>
              </a:rPr>
              <a:t>The adolescent now grapples with complex ethical questions and needs opportunities to explore moral dilemmas, discuss values, and develop their own moral framework—through real experiences, not lectures.</a:t>
            </a:r>
            <a:endParaRPr lang="en-US" sz="1000" dirty="0"/>
          </a:p>
        </p:txBody>
      </p:sp>
      <p:sp>
        <p:nvSpPr>
          <p:cNvPr id="15" name="Shape 13"/>
          <p:cNvSpPr/>
          <p:nvPr/>
        </p:nvSpPr>
        <p:spPr>
          <a:xfrm>
            <a:off x="731520" y="3931920"/>
            <a:ext cx="10725912" cy="0"/>
          </a:xfrm>
          <a:prstGeom prst="line">
            <a:avLst/>
          </a:prstGeom>
          <a:noFill/>
          <a:ln w="6350">
            <a:solidFill>
              <a:srgbClr val="E4D2F8"/>
            </a:solidFill>
            <a:prstDash val="solid"/>
          </a:ln>
        </p:spPr>
      </p:sp>
      <p:sp>
        <p:nvSpPr>
          <p:cNvPr id="16" name="Shape 14"/>
          <p:cNvSpPr/>
          <p:nvPr/>
        </p:nvSpPr>
        <p:spPr>
          <a:xfrm>
            <a:off x="731520" y="3977640"/>
            <a:ext cx="10725912" cy="731520"/>
          </a:xfrm>
          <a:prstGeom prst="rect">
            <a:avLst/>
          </a:prstGeom>
          <a:solidFill>
            <a:srgbClr val="F3EBFC"/>
          </a:solidFill>
          <a:ln/>
        </p:spPr>
      </p:sp>
      <p:sp>
        <p:nvSpPr>
          <p:cNvPr id="17" name="Text 15"/>
          <p:cNvSpPr/>
          <p:nvPr/>
        </p:nvSpPr>
        <p:spPr>
          <a:xfrm>
            <a:off x="868680" y="4023360"/>
            <a:ext cx="10451592" cy="228600"/>
          </a:xfrm>
          <a:prstGeom prst="rect">
            <a:avLst/>
          </a:prstGeom>
          <a:noFill/>
          <a:ln/>
        </p:spPr>
        <p:txBody>
          <a:bodyPr wrap="square" rtlCol="0" anchor="ctr"/>
          <a:lstStyle/>
          <a:p>
            <a:pPr indent="0" marL="0">
              <a:buNone/>
            </a:pPr>
            <a:r>
              <a:rPr lang="en-US" sz="1200" b="1" dirty="0">
                <a:solidFill>
                  <a:srgbClr val="3F265B"/>
                </a:solidFill>
                <a:latin typeface="Lora" pitchFamily="34" charset="0"/>
                <a:ea typeface="Lora" pitchFamily="34" charset="-122"/>
                <a:cs typeface="Lora" pitchFamily="34" charset="-120"/>
              </a:rPr>
              <a:t>Economic Independence</a:t>
            </a:r>
            <a:endParaRPr lang="en-US" sz="1200" dirty="0"/>
          </a:p>
        </p:txBody>
      </p:sp>
      <p:sp>
        <p:nvSpPr>
          <p:cNvPr id="18" name="Text 16"/>
          <p:cNvSpPr/>
          <p:nvPr/>
        </p:nvSpPr>
        <p:spPr>
          <a:xfrm>
            <a:off x="868680" y="4251960"/>
            <a:ext cx="10451592" cy="411480"/>
          </a:xfrm>
          <a:prstGeom prst="rect">
            <a:avLst/>
          </a:prstGeom>
          <a:noFill/>
          <a:ln/>
        </p:spPr>
        <p:txBody>
          <a:bodyPr wrap="square" rtlCol="0" anchor="t"/>
          <a:lstStyle/>
          <a:p>
            <a:pPr indent="0" marL="0">
              <a:lnSpc>
                <a:spcPct val="120000"/>
              </a:lnSpc>
              <a:buNone/>
            </a:pPr>
            <a:r>
              <a:rPr lang="en-US" sz="1000" dirty="0">
                <a:solidFill>
                  <a:srgbClr val="5C4A3A"/>
                </a:solidFill>
                <a:latin typeface="Inter" pitchFamily="34" charset="0"/>
                <a:ea typeface="Inter" pitchFamily="34" charset="-122"/>
                <a:cs typeface="Inter" pitchFamily="34" charset="-120"/>
              </a:rPr>
              <a:t>The adolescent needs to experience earning through their own productive work—not career preparation, but the psychological experience of being capable and contributing to the adult world.</a:t>
            </a:r>
            <a:endParaRPr lang="en-US" sz="1000" dirty="0"/>
          </a:p>
        </p:txBody>
      </p:sp>
      <p:sp>
        <p:nvSpPr>
          <p:cNvPr id="19" name="Shape 17"/>
          <p:cNvSpPr/>
          <p:nvPr/>
        </p:nvSpPr>
        <p:spPr>
          <a:xfrm>
            <a:off x="731520" y="4709160"/>
            <a:ext cx="10725912" cy="0"/>
          </a:xfrm>
          <a:prstGeom prst="line">
            <a:avLst/>
          </a:prstGeom>
          <a:noFill/>
          <a:ln w="6350">
            <a:solidFill>
              <a:srgbClr val="E4D2F8"/>
            </a:solidFill>
            <a:prstDash val="solid"/>
          </a:ln>
        </p:spPr>
      </p:sp>
      <p:sp>
        <p:nvSpPr>
          <p:cNvPr id="20" name="Text 18"/>
          <p:cNvSpPr/>
          <p:nvPr/>
        </p:nvSpPr>
        <p:spPr>
          <a:xfrm>
            <a:off x="731520" y="4800600"/>
            <a:ext cx="10725912" cy="320040"/>
          </a:xfrm>
          <a:prstGeom prst="rect">
            <a:avLst/>
          </a:prstGeom>
          <a:noFill/>
          <a:ln/>
        </p:spPr>
        <p:txBody>
          <a:bodyPr wrap="square" rtlCol="0" anchor="ctr"/>
          <a:lstStyle/>
          <a:p>
            <a:pPr indent="0" marL="0">
              <a:buNone/>
            </a:pPr>
            <a:r>
              <a:rPr lang="en-US" sz="1500" b="1" dirty="0">
                <a:solidFill>
                  <a:srgbClr val="3F265B"/>
                </a:solidFill>
                <a:latin typeface="Lora" pitchFamily="34" charset="0"/>
                <a:ea typeface="Lora" pitchFamily="34" charset="-122"/>
                <a:cs typeface="Lora" pitchFamily="34" charset="-120"/>
              </a:rPr>
              <a:t>Valorization &amp; Erdkinder</a:t>
            </a:r>
            <a:endParaRPr lang="en-US" sz="1500" dirty="0"/>
          </a:p>
        </p:txBody>
      </p:sp>
      <p:sp>
        <p:nvSpPr>
          <p:cNvPr id="21" name="Text 19"/>
          <p:cNvSpPr/>
          <p:nvPr/>
        </p:nvSpPr>
        <p:spPr>
          <a:xfrm>
            <a:off x="731520" y="5074920"/>
            <a:ext cx="10725912" cy="411480"/>
          </a:xfrm>
          <a:prstGeom prst="rect">
            <a:avLst/>
          </a:prstGeom>
          <a:noFill/>
          <a:ln/>
        </p:spPr>
        <p:txBody>
          <a:bodyPr wrap="square" rtlCol="0" anchor="t"/>
          <a:lstStyle/>
          <a:p>
            <a:pPr indent="0" marL="0">
              <a:lnSpc>
                <a:spcPct val="130000"/>
              </a:lnSpc>
              <a:buNone/>
            </a:pPr>
            <a:r>
              <a:rPr lang="en-US" sz="1100" dirty="0">
                <a:solidFill>
                  <a:srgbClr val="5C4A3A"/>
                </a:solidFill>
                <a:latin typeface="Inter" pitchFamily="34" charset="0"/>
                <a:ea typeface="Inter" pitchFamily="34" charset="-122"/>
                <a:cs typeface="Inter" pitchFamily="34" charset="-120"/>
              </a:rPr>
              <a:t>Montessori used the term "valorization" to describe the adolescent's need to feel that they are a person of value. This is achieved not through praise or grades but through authentic experiences of competence, responsibility, and service.</a:t>
            </a:r>
            <a:endParaRPr lang="en-US" sz="1100" dirty="0"/>
          </a:p>
        </p:txBody>
      </p:sp>
      <p:sp>
        <p:nvSpPr>
          <p:cNvPr id="22" name="Text 20"/>
          <p:cNvSpPr/>
          <p:nvPr/>
        </p:nvSpPr>
        <p:spPr>
          <a:xfrm>
            <a:off x="731520" y="5486400"/>
            <a:ext cx="10725912" cy="502920"/>
          </a:xfrm>
          <a:prstGeom prst="rect">
            <a:avLst/>
          </a:prstGeom>
          <a:noFill/>
          <a:ln/>
        </p:spPr>
        <p:txBody>
          <a:bodyPr wrap="square" rtlCol="0" anchor="t"/>
          <a:lstStyle/>
          <a:p>
            <a:pPr indent="0" marL="0">
              <a:lnSpc>
                <a:spcPct val="130000"/>
              </a:lnSpc>
              <a:buNone/>
            </a:pPr>
            <a:r>
              <a:rPr lang="en-US" sz="1100" dirty="0">
                <a:solidFill>
                  <a:srgbClr val="5C4A3A"/>
                </a:solidFill>
                <a:latin typeface="Inter" pitchFamily="34" charset="0"/>
                <a:ea typeface="Inter" pitchFamily="34" charset="-122"/>
                <a:cs typeface="Inter" pitchFamily="34" charset="-120"/>
              </a:rPr>
              <a:t>She proposed the Erdkinder ("children of the earth")—a farm school where young people live and work together. Its principles of connection to nature, meaningful work, community living, and economic participation can be adapted to many settings.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731520" y="6446520"/>
            <a:ext cx="2743200" cy="274320"/>
          </a:xfrm>
          <a:prstGeom prst="rect">
            <a:avLst/>
          </a:prstGeom>
          <a:noFill/>
          <a:ln/>
        </p:spPr>
        <p:txBody>
          <a:bodyPr wrap="square" rtlCol="0" anchor="ctr"/>
          <a:lstStyle/>
          <a:p>
            <a:pPr indent="0" marL="0">
              <a:buNone/>
            </a:pPr>
            <a:r>
              <a:rPr lang="en-US" sz="800" dirty="0">
                <a:solidFill>
                  <a:srgbClr val="C4A94D"/>
                </a:solidFill>
                <a:latin typeface="Inter" pitchFamily="34" charset="0"/>
                <a:ea typeface="Inter" pitchFamily="34" charset="-122"/>
                <a:cs typeface="Inter" pitchFamily="34" charset="-120"/>
              </a:rPr>
              <a:t>montessoriforadolescents.com</a:t>
            </a:r>
            <a:endParaRPr lang="en-US" sz="800" dirty="0"/>
          </a:p>
        </p:txBody>
      </p:sp>
      <p:sp>
        <p:nvSpPr>
          <p:cNvPr id="3" name="Text 1"/>
          <p:cNvSpPr/>
          <p:nvPr/>
        </p:nvSpPr>
        <p:spPr>
          <a:xfrm>
            <a:off x="731520" y="365760"/>
            <a:ext cx="10725912" cy="502920"/>
          </a:xfrm>
          <a:prstGeom prst="rect">
            <a:avLst/>
          </a:prstGeom>
          <a:noFill/>
          <a:ln/>
        </p:spPr>
        <p:txBody>
          <a:bodyPr wrap="square" rtlCol="0" anchor="ctr"/>
          <a:lstStyle/>
          <a:p>
            <a:pPr indent="0" marL="0">
              <a:buNone/>
            </a:pPr>
            <a:r>
              <a:rPr lang="en-US" sz="2400" b="1" dirty="0">
                <a:solidFill>
                  <a:srgbClr val="3F265B"/>
                </a:solidFill>
                <a:latin typeface="Lora" pitchFamily="34" charset="0"/>
                <a:ea typeface="Lora" pitchFamily="34" charset="-122"/>
                <a:cs typeface="Lora" pitchFamily="34" charset="-120"/>
              </a:rPr>
              <a:t>What Adolescents Need</a:t>
            </a:r>
            <a:endParaRPr lang="en-US" sz="2400" dirty="0"/>
          </a:p>
        </p:txBody>
      </p:sp>
      <p:sp>
        <p:nvSpPr>
          <p:cNvPr id="4" name="Shape 2"/>
          <p:cNvSpPr/>
          <p:nvPr/>
        </p:nvSpPr>
        <p:spPr>
          <a:xfrm>
            <a:off x="731520" y="822960"/>
            <a:ext cx="10725912" cy="0"/>
          </a:xfrm>
          <a:prstGeom prst="line">
            <a:avLst/>
          </a:prstGeom>
          <a:noFill/>
          <a:ln w="19050">
            <a:solidFill>
              <a:srgbClr val="C4A94D"/>
            </a:solidFill>
            <a:prstDash val="solid"/>
          </a:ln>
        </p:spPr>
      </p:sp>
      <p:sp>
        <p:nvSpPr>
          <p:cNvPr id="5" name="Text 3"/>
          <p:cNvSpPr/>
          <p:nvPr/>
        </p:nvSpPr>
        <p:spPr>
          <a:xfrm>
            <a:off x="731520" y="960120"/>
            <a:ext cx="10725912" cy="457200"/>
          </a:xfrm>
          <a:prstGeom prst="rect">
            <a:avLst/>
          </a:prstGeom>
          <a:noFill/>
          <a:ln/>
        </p:spPr>
        <p:txBody>
          <a:bodyPr wrap="square" rtlCol="0" anchor="t"/>
          <a:lstStyle/>
          <a:p>
            <a:pPr indent="0" marL="0">
              <a:lnSpc>
                <a:spcPct val="130000"/>
              </a:lnSpc>
              <a:buNone/>
            </a:pPr>
            <a:r>
              <a:rPr lang="en-US" sz="1100" dirty="0">
                <a:solidFill>
                  <a:srgbClr val="5C4A3A"/>
                </a:solidFill>
                <a:latin typeface="Inter" pitchFamily="34" charset="0"/>
                <a:ea typeface="Inter" pitchFamily="34" charset="-122"/>
                <a:cs typeface="Inter" pitchFamily="34" charset="-120"/>
              </a:rPr>
              <a:t>Understanding the characteristics of the Third Plane leads us to a clear picture of what adolescents need in order to develop fully. Montessori's vision was not merely theoretical—she offered practical principles for supporting adolescent development.</a:t>
            </a:r>
            <a:endParaRPr lang="en-US" sz="1100" dirty="0"/>
          </a:p>
        </p:txBody>
      </p:sp>
      <p:sp>
        <p:nvSpPr>
          <p:cNvPr id="6" name="Shape 4"/>
          <p:cNvSpPr/>
          <p:nvPr/>
        </p:nvSpPr>
        <p:spPr>
          <a:xfrm>
            <a:off x="731520" y="1463040"/>
            <a:ext cx="5289804" cy="1005840"/>
          </a:xfrm>
          <a:prstGeom prst="rect">
            <a:avLst>
              <a:gd name="adj" fmla="val 4545"/>
            </a:avLst>
          </a:prstGeom>
          <a:solidFill>
            <a:srgbClr val="F3EBFC"/>
          </a:solidFill>
          <a:ln/>
        </p:spPr>
      </p:sp>
      <p:sp>
        <p:nvSpPr>
          <p:cNvPr id="7" name="Text 5"/>
          <p:cNvSpPr/>
          <p:nvPr/>
        </p:nvSpPr>
        <p:spPr>
          <a:xfrm>
            <a:off x="731520" y="1554480"/>
            <a:ext cx="5289804" cy="274320"/>
          </a:xfrm>
          <a:prstGeom prst="rect">
            <a:avLst/>
          </a:prstGeom>
          <a:noFill/>
          <a:ln/>
        </p:spPr>
        <p:txBody>
          <a:bodyPr wrap="square" rtlCol="0" anchor="ctr"/>
          <a:lstStyle/>
          <a:p>
            <a:pPr algn="ctr" indent="0" marL="0">
              <a:buNone/>
            </a:pPr>
            <a:r>
              <a:rPr lang="en-US" sz="1400" b="1" dirty="0">
                <a:solidFill>
                  <a:srgbClr val="3F265B"/>
                </a:solidFill>
                <a:latin typeface="Lora" pitchFamily="34" charset="0"/>
                <a:ea typeface="Lora" pitchFamily="34" charset="-122"/>
                <a:cs typeface="Lora" pitchFamily="34" charset="-120"/>
              </a:rPr>
              <a:t>Meaningful Work</a:t>
            </a:r>
            <a:endParaRPr lang="en-US" sz="1400" dirty="0"/>
          </a:p>
        </p:txBody>
      </p:sp>
      <p:sp>
        <p:nvSpPr>
          <p:cNvPr id="8" name="Text 6"/>
          <p:cNvSpPr/>
          <p:nvPr/>
        </p:nvSpPr>
        <p:spPr>
          <a:xfrm>
            <a:off x="914400" y="1828800"/>
            <a:ext cx="4924044" cy="548640"/>
          </a:xfrm>
          <a:prstGeom prst="rect">
            <a:avLst/>
          </a:prstGeom>
          <a:noFill/>
          <a:ln/>
        </p:spPr>
        <p:txBody>
          <a:bodyPr wrap="square" rtlCol="0" anchor="t"/>
          <a:lstStyle/>
          <a:p>
            <a:pPr algn="ctr" indent="0" marL="0">
              <a:lnSpc>
                <a:spcPct val="120000"/>
              </a:lnSpc>
              <a:buNone/>
            </a:pPr>
            <a:r>
              <a:rPr lang="en-US" sz="1000" dirty="0">
                <a:solidFill>
                  <a:srgbClr val="5C4A3A"/>
                </a:solidFill>
                <a:latin typeface="Inter" pitchFamily="34" charset="0"/>
                <a:ea typeface="Inter" pitchFamily="34" charset="-122"/>
                <a:cs typeface="Inter" pitchFamily="34" charset="-120"/>
              </a:rPr>
              <a:t>Work that has real purpose and serves the community—productive activity that engages both body and mind.</a:t>
            </a:r>
            <a:endParaRPr lang="en-US" sz="1000" dirty="0"/>
          </a:p>
        </p:txBody>
      </p:sp>
      <p:sp>
        <p:nvSpPr>
          <p:cNvPr id="9" name="Shape 7"/>
          <p:cNvSpPr/>
          <p:nvPr/>
        </p:nvSpPr>
        <p:spPr>
          <a:xfrm>
            <a:off x="6167628" y="1463040"/>
            <a:ext cx="5289804" cy="1005840"/>
          </a:xfrm>
          <a:prstGeom prst="rect">
            <a:avLst>
              <a:gd name="adj" fmla="val 4545"/>
            </a:avLst>
          </a:prstGeom>
          <a:solidFill>
            <a:srgbClr val="F3EBFC"/>
          </a:solidFill>
          <a:ln/>
        </p:spPr>
      </p:sp>
      <p:sp>
        <p:nvSpPr>
          <p:cNvPr id="10" name="Text 8"/>
          <p:cNvSpPr/>
          <p:nvPr/>
        </p:nvSpPr>
        <p:spPr>
          <a:xfrm>
            <a:off x="6167628" y="1554480"/>
            <a:ext cx="5289804" cy="274320"/>
          </a:xfrm>
          <a:prstGeom prst="rect">
            <a:avLst/>
          </a:prstGeom>
          <a:noFill/>
          <a:ln/>
        </p:spPr>
        <p:txBody>
          <a:bodyPr wrap="square" rtlCol="0" anchor="ctr"/>
          <a:lstStyle/>
          <a:p>
            <a:pPr algn="ctr" indent="0" marL="0">
              <a:buNone/>
            </a:pPr>
            <a:r>
              <a:rPr lang="en-US" sz="1400" b="1" dirty="0">
                <a:solidFill>
                  <a:srgbClr val="3F265B"/>
                </a:solidFill>
                <a:latin typeface="Lora" pitchFamily="34" charset="0"/>
                <a:ea typeface="Lora" pitchFamily="34" charset="-122"/>
                <a:cs typeface="Lora" pitchFamily="34" charset="-120"/>
              </a:rPr>
              <a:t>A Prepared Environment</a:t>
            </a:r>
            <a:endParaRPr lang="en-US" sz="1400" dirty="0"/>
          </a:p>
        </p:txBody>
      </p:sp>
      <p:sp>
        <p:nvSpPr>
          <p:cNvPr id="11" name="Text 9"/>
          <p:cNvSpPr/>
          <p:nvPr/>
        </p:nvSpPr>
        <p:spPr>
          <a:xfrm>
            <a:off x="6350508" y="1828800"/>
            <a:ext cx="4924044" cy="548640"/>
          </a:xfrm>
          <a:prstGeom prst="rect">
            <a:avLst/>
          </a:prstGeom>
          <a:noFill/>
          <a:ln/>
        </p:spPr>
        <p:txBody>
          <a:bodyPr wrap="square" rtlCol="0" anchor="t"/>
          <a:lstStyle/>
          <a:p>
            <a:pPr algn="ctr" indent="0" marL="0">
              <a:lnSpc>
                <a:spcPct val="120000"/>
              </a:lnSpc>
              <a:buNone/>
            </a:pPr>
            <a:r>
              <a:rPr lang="en-US" sz="1000" dirty="0">
                <a:solidFill>
                  <a:srgbClr val="5C4A3A"/>
                </a:solidFill>
                <a:latin typeface="Inter" pitchFamily="34" charset="0"/>
                <a:ea typeface="Inter" pitchFamily="34" charset="-122"/>
                <a:cs typeface="Inter" pitchFamily="34" charset="-120"/>
              </a:rPr>
              <a:t>An environment designed for adolescent needs—offering physical activity, intellectual engagement, social interaction, solitude, structure, and freedom.</a:t>
            </a:r>
            <a:endParaRPr lang="en-US" sz="1000" dirty="0"/>
          </a:p>
        </p:txBody>
      </p:sp>
      <p:sp>
        <p:nvSpPr>
          <p:cNvPr id="12" name="Shape 10"/>
          <p:cNvSpPr/>
          <p:nvPr/>
        </p:nvSpPr>
        <p:spPr>
          <a:xfrm>
            <a:off x="731520" y="2542032"/>
            <a:ext cx="5289804" cy="1005840"/>
          </a:xfrm>
          <a:prstGeom prst="rect">
            <a:avLst>
              <a:gd name="adj" fmla="val 4545"/>
            </a:avLst>
          </a:prstGeom>
          <a:solidFill>
            <a:srgbClr val="F3EBFC"/>
          </a:solidFill>
          <a:ln/>
        </p:spPr>
      </p:sp>
      <p:sp>
        <p:nvSpPr>
          <p:cNvPr id="13" name="Text 11"/>
          <p:cNvSpPr/>
          <p:nvPr/>
        </p:nvSpPr>
        <p:spPr>
          <a:xfrm>
            <a:off x="731520" y="2633472"/>
            <a:ext cx="5289804" cy="274320"/>
          </a:xfrm>
          <a:prstGeom prst="rect">
            <a:avLst/>
          </a:prstGeom>
          <a:noFill/>
          <a:ln/>
        </p:spPr>
        <p:txBody>
          <a:bodyPr wrap="square" rtlCol="0" anchor="ctr"/>
          <a:lstStyle/>
          <a:p>
            <a:pPr algn="ctr" indent="0" marL="0">
              <a:buNone/>
            </a:pPr>
            <a:r>
              <a:rPr lang="en-US" sz="1400" b="1" dirty="0">
                <a:solidFill>
                  <a:srgbClr val="3F265B"/>
                </a:solidFill>
                <a:latin typeface="Lora" pitchFamily="34" charset="0"/>
                <a:ea typeface="Lora" pitchFamily="34" charset="-122"/>
                <a:cs typeface="Lora" pitchFamily="34" charset="-120"/>
              </a:rPr>
              <a:t>Social Experience</a:t>
            </a:r>
            <a:endParaRPr lang="en-US" sz="1400" dirty="0"/>
          </a:p>
        </p:txBody>
      </p:sp>
      <p:sp>
        <p:nvSpPr>
          <p:cNvPr id="14" name="Text 12"/>
          <p:cNvSpPr/>
          <p:nvPr/>
        </p:nvSpPr>
        <p:spPr>
          <a:xfrm>
            <a:off x="914400" y="2907792"/>
            <a:ext cx="4924044" cy="548640"/>
          </a:xfrm>
          <a:prstGeom prst="rect">
            <a:avLst/>
          </a:prstGeom>
          <a:noFill/>
          <a:ln/>
        </p:spPr>
        <p:txBody>
          <a:bodyPr wrap="square" rtlCol="0" anchor="t"/>
          <a:lstStyle/>
          <a:p>
            <a:pPr algn="ctr" indent="0" marL="0">
              <a:lnSpc>
                <a:spcPct val="120000"/>
              </a:lnSpc>
              <a:buNone/>
            </a:pPr>
            <a:r>
              <a:rPr lang="en-US" sz="1000" dirty="0">
                <a:solidFill>
                  <a:srgbClr val="5C4A3A"/>
                </a:solidFill>
                <a:latin typeface="Inter" pitchFamily="34" charset="0"/>
                <a:ea typeface="Inter" pitchFamily="34" charset="-122"/>
                <a:cs typeface="Inter" pitchFamily="34" charset="-120"/>
              </a:rPr>
              <a:t>Genuine opportunities to live and work with peers, navigate relationships, and contribute to a community.</a:t>
            </a:r>
            <a:endParaRPr lang="en-US" sz="1000" dirty="0"/>
          </a:p>
        </p:txBody>
      </p:sp>
      <p:sp>
        <p:nvSpPr>
          <p:cNvPr id="15" name="Shape 13"/>
          <p:cNvSpPr/>
          <p:nvPr/>
        </p:nvSpPr>
        <p:spPr>
          <a:xfrm>
            <a:off x="6167628" y="2542032"/>
            <a:ext cx="5289804" cy="1005840"/>
          </a:xfrm>
          <a:prstGeom prst="rect">
            <a:avLst>
              <a:gd name="adj" fmla="val 4545"/>
            </a:avLst>
          </a:prstGeom>
          <a:solidFill>
            <a:srgbClr val="F3EBFC"/>
          </a:solidFill>
          <a:ln/>
        </p:spPr>
      </p:sp>
      <p:sp>
        <p:nvSpPr>
          <p:cNvPr id="16" name="Text 14"/>
          <p:cNvSpPr/>
          <p:nvPr/>
        </p:nvSpPr>
        <p:spPr>
          <a:xfrm>
            <a:off x="6167628" y="2633472"/>
            <a:ext cx="5289804" cy="274320"/>
          </a:xfrm>
          <a:prstGeom prst="rect">
            <a:avLst/>
          </a:prstGeom>
          <a:noFill/>
          <a:ln/>
        </p:spPr>
        <p:txBody>
          <a:bodyPr wrap="square" rtlCol="0" anchor="ctr"/>
          <a:lstStyle/>
          <a:p>
            <a:pPr algn="ctr" indent="0" marL="0">
              <a:buNone/>
            </a:pPr>
            <a:r>
              <a:rPr lang="en-US" sz="1400" b="1" dirty="0">
                <a:solidFill>
                  <a:srgbClr val="3F265B"/>
                </a:solidFill>
                <a:latin typeface="Lora" pitchFamily="34" charset="0"/>
                <a:ea typeface="Lora" pitchFamily="34" charset="-122"/>
                <a:cs typeface="Lora" pitchFamily="34" charset="-120"/>
              </a:rPr>
              <a:t>Real Independence</a:t>
            </a:r>
            <a:endParaRPr lang="en-US" sz="1400" dirty="0"/>
          </a:p>
        </p:txBody>
      </p:sp>
      <p:sp>
        <p:nvSpPr>
          <p:cNvPr id="17" name="Text 15"/>
          <p:cNvSpPr/>
          <p:nvPr/>
        </p:nvSpPr>
        <p:spPr>
          <a:xfrm>
            <a:off x="6350508" y="2907792"/>
            <a:ext cx="4924044" cy="548640"/>
          </a:xfrm>
          <a:prstGeom prst="rect">
            <a:avLst/>
          </a:prstGeom>
          <a:noFill/>
          <a:ln/>
        </p:spPr>
        <p:txBody>
          <a:bodyPr wrap="square" rtlCol="0" anchor="t"/>
          <a:lstStyle/>
          <a:p>
            <a:pPr algn="ctr" indent="0" marL="0">
              <a:lnSpc>
                <a:spcPct val="120000"/>
              </a:lnSpc>
              <a:buNone/>
            </a:pPr>
            <a:r>
              <a:rPr lang="en-US" sz="1000" dirty="0">
                <a:solidFill>
                  <a:srgbClr val="5C4A3A"/>
                </a:solidFill>
                <a:latin typeface="Inter" pitchFamily="34" charset="0"/>
                <a:ea typeface="Inter" pitchFamily="34" charset="-122"/>
                <a:cs typeface="Inter" pitchFamily="34" charset="-120"/>
              </a:rPr>
              <a:t>The freedom to make real choices and manage real responsibilities—with the support of caring adults who trust their emerging competence.</a:t>
            </a:r>
            <a:endParaRPr lang="en-US" sz="1000" dirty="0"/>
          </a:p>
        </p:txBody>
      </p:sp>
      <p:sp>
        <p:nvSpPr>
          <p:cNvPr id="18" name="Text 16"/>
          <p:cNvSpPr/>
          <p:nvPr/>
        </p:nvSpPr>
        <p:spPr>
          <a:xfrm>
            <a:off x="731520" y="3611880"/>
            <a:ext cx="10725912" cy="320040"/>
          </a:xfrm>
          <a:prstGeom prst="rect">
            <a:avLst/>
          </a:prstGeom>
          <a:noFill/>
          <a:ln/>
        </p:spPr>
        <p:txBody>
          <a:bodyPr wrap="square" rtlCol="0" anchor="ctr"/>
          <a:lstStyle/>
          <a:p>
            <a:pPr indent="0" marL="0">
              <a:buNone/>
            </a:pPr>
            <a:r>
              <a:rPr lang="en-US" sz="1500" b="1" dirty="0">
                <a:solidFill>
                  <a:srgbClr val="3F265B"/>
                </a:solidFill>
                <a:latin typeface="Lora" pitchFamily="34" charset="0"/>
                <a:ea typeface="Lora" pitchFamily="34" charset="-122"/>
                <a:cs typeface="Lora" pitchFamily="34" charset="-120"/>
              </a:rPr>
              <a:t>Montessori's Vision: A Center of Study and Work</a:t>
            </a:r>
            <a:endParaRPr lang="en-US" sz="1500" dirty="0"/>
          </a:p>
        </p:txBody>
      </p:sp>
      <p:sp>
        <p:nvSpPr>
          <p:cNvPr id="19" name="Text 17"/>
          <p:cNvSpPr/>
          <p:nvPr/>
        </p:nvSpPr>
        <p:spPr>
          <a:xfrm>
            <a:off x="731520" y="3886200"/>
            <a:ext cx="10725912" cy="640080"/>
          </a:xfrm>
          <a:prstGeom prst="rect">
            <a:avLst/>
          </a:prstGeom>
          <a:noFill/>
          <a:ln/>
        </p:spPr>
        <p:txBody>
          <a:bodyPr wrap="square" rtlCol="0" anchor="t"/>
          <a:lstStyle/>
          <a:p>
            <a:pPr indent="0" marL="0">
              <a:lnSpc>
                <a:spcPct val="130000"/>
              </a:lnSpc>
              <a:buNone/>
            </a:pPr>
            <a:r>
              <a:rPr lang="en-US" sz="1100" dirty="0">
                <a:solidFill>
                  <a:srgbClr val="5C4A3A"/>
                </a:solidFill>
                <a:latin typeface="Inter" pitchFamily="34" charset="0"/>
                <a:ea typeface="Inter" pitchFamily="34" charset="-122"/>
                <a:cs typeface="Inter" pitchFamily="34" charset="-120"/>
              </a:rPr>
              <a:t>Montessori envisioned a "Center of Study and Work" where academic learning is integrated with productive work, young people live in community, and character development is valued alongside intellectual growth. Key elements include a connection to the land, a student-run business, real-world academics, creative expression, and adult guides who mentor rather than lecture.</a:t>
            </a:r>
            <a:endParaRPr lang="en-US" sz="1100" dirty="0"/>
          </a:p>
        </p:txBody>
      </p:sp>
      <p:sp>
        <p:nvSpPr>
          <p:cNvPr id="20" name="Shape 18"/>
          <p:cNvSpPr/>
          <p:nvPr/>
        </p:nvSpPr>
        <p:spPr>
          <a:xfrm>
            <a:off x="731520" y="4617720"/>
            <a:ext cx="10725912" cy="0"/>
          </a:xfrm>
          <a:prstGeom prst="line">
            <a:avLst/>
          </a:prstGeom>
          <a:noFill/>
          <a:ln w="19050">
            <a:solidFill>
              <a:srgbClr val="C4A94D"/>
            </a:solidFill>
            <a:prstDash val="solid"/>
          </a:ln>
        </p:spPr>
      </p:sp>
      <p:sp>
        <p:nvSpPr>
          <p:cNvPr id="21" name="Text 19"/>
          <p:cNvSpPr/>
          <p:nvPr/>
        </p:nvSpPr>
        <p:spPr>
          <a:xfrm>
            <a:off x="1828800" y="4754880"/>
            <a:ext cx="8531352" cy="320040"/>
          </a:xfrm>
          <a:prstGeom prst="rect">
            <a:avLst/>
          </a:prstGeom>
          <a:noFill/>
          <a:ln/>
        </p:spPr>
        <p:txBody>
          <a:bodyPr wrap="square" rtlCol="0" anchor="ctr"/>
          <a:lstStyle/>
          <a:p>
            <a:pPr algn="ctr" indent="0" marL="0">
              <a:buNone/>
            </a:pPr>
            <a:r>
              <a:rPr lang="en-US" sz="1600" dirty="0">
                <a:solidFill>
                  <a:srgbClr val="3F265B"/>
                </a:solidFill>
                <a:latin typeface="Lora" pitchFamily="34" charset="0"/>
                <a:ea typeface="Lora" pitchFamily="34" charset="-122"/>
                <a:cs typeface="Lora" pitchFamily="34" charset="-120"/>
              </a:rPr>
              <a:t>Learn More</a:t>
            </a:r>
            <a:endParaRPr lang="en-US" sz="1600" dirty="0"/>
          </a:p>
        </p:txBody>
      </p:sp>
      <p:sp>
        <p:nvSpPr>
          <p:cNvPr id="22" name="Text 20"/>
          <p:cNvSpPr/>
          <p:nvPr/>
        </p:nvSpPr>
        <p:spPr>
          <a:xfrm>
            <a:off x="1828800" y="5074920"/>
            <a:ext cx="8531352" cy="365760"/>
          </a:xfrm>
          <a:prstGeom prst="rect">
            <a:avLst/>
          </a:prstGeom>
          <a:noFill/>
          <a:ln/>
        </p:spPr>
        <p:txBody>
          <a:bodyPr wrap="square" rtlCol="0" anchor="ctr"/>
          <a:lstStyle/>
          <a:p>
            <a:pPr algn="ctr" indent="0" marL="0">
              <a:buNone/>
            </a:pPr>
            <a:r>
              <a:rPr lang="en-US" sz="1100" dirty="0">
                <a:solidFill>
                  <a:srgbClr val="5C4A3A"/>
                </a:solidFill>
                <a:latin typeface="Inter" pitchFamily="34" charset="0"/>
                <a:ea typeface="Inter" pitchFamily="34" charset="-122"/>
                <a:cs typeface="Inter" pitchFamily="34" charset="-120"/>
              </a:rPr>
              <a:t>Visit montessoriforadolescents.com for more resources on Montessori for adolescents, live webinars, and to request help starting your own Center for Study and Work.</a:t>
            </a:r>
            <a:endParaRPr lang="en-US" sz="1100" dirty="0"/>
          </a:p>
        </p:txBody>
      </p:sp>
      <p:pic>
        <p:nvPicPr>
          <p:cNvPr id="23" name="Image 0" descr="preencoded.png">    </p:cNvPr>
          <p:cNvPicPr>
            <a:picLocks noChangeAspect="1"/>
          </p:cNvPicPr>
          <p:nvPr/>
        </p:nvPicPr>
        <p:blipFill>
          <a:blip r:embed="rId1"/>
          <a:stretch>
            <a:fillRect/>
          </a:stretch>
        </p:blipFill>
        <p:spPr>
          <a:xfrm>
            <a:off x="5641848" y="5532120"/>
            <a:ext cx="914400" cy="914400"/>
          </a:xfrm>
          <a:prstGeom prst="rect">
            <a:avLst/>
          </a:prstGeom>
        </p:spPr>
      </p:pic>
      <p:sp>
        <p:nvSpPr>
          <p:cNvPr id="24" name="Text 21"/>
          <p:cNvSpPr/>
          <p:nvPr/>
        </p:nvSpPr>
        <p:spPr>
          <a:xfrm>
            <a:off x="1828800" y="6263640"/>
            <a:ext cx="8531352" cy="228600"/>
          </a:xfrm>
          <a:prstGeom prst="rect">
            <a:avLst/>
          </a:prstGeom>
          <a:noFill/>
          <a:ln/>
        </p:spPr>
        <p:txBody>
          <a:bodyPr wrap="square" rtlCol="0" anchor="ctr"/>
          <a:lstStyle/>
          <a:p>
            <a:pPr algn="ctr" indent="0" marL="0">
              <a:buNone/>
            </a:pPr>
            <a:r>
              <a:rPr lang="en-US" sz="700" dirty="0">
                <a:solidFill>
                  <a:srgbClr val="5C4A3A"/>
                </a:solidFill>
                <a:latin typeface="Inter" pitchFamily="34" charset="0"/>
                <a:ea typeface="Inter" pitchFamily="34" charset="-122"/>
                <a:cs typeface="Inter" pitchFamily="34" charset="-120"/>
              </a:rPr>
              <a:t>Content sourced from AMI Diploma 12–18 Theory &amp; Methodology Album and the writings of Maria Montessori.</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Characteristics of the Third Plane of Development</dc:title>
  <dc:subject>PptxGenJS Presentation</dc:subject>
  <dc:creator>Montessori for Adolescents</dc:creator>
  <cp:lastModifiedBy>Montessori for Adolescents</cp:lastModifiedBy>
  <cp:revision>1</cp:revision>
  <dcterms:created xsi:type="dcterms:W3CDTF">2026-02-19T07:10:40Z</dcterms:created>
  <dcterms:modified xsi:type="dcterms:W3CDTF">2026-02-19T07:10:40Z</dcterms:modified>
</cp:coreProperties>
</file>